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72" r:id="rId11"/>
    <p:sldId id="269" r:id="rId12"/>
    <p:sldId id="274" r:id="rId13"/>
    <p:sldId id="273" r:id="rId14"/>
    <p:sldId id="264" r:id="rId15"/>
    <p:sldId id="265" r:id="rId16"/>
    <p:sldId id="302" r:id="rId17"/>
    <p:sldId id="303" r:id="rId18"/>
    <p:sldId id="309" r:id="rId19"/>
    <p:sldId id="304" r:id="rId20"/>
    <p:sldId id="305" r:id="rId21"/>
    <p:sldId id="321" r:id="rId22"/>
    <p:sldId id="322" r:id="rId23"/>
    <p:sldId id="323" r:id="rId24"/>
    <p:sldId id="324" r:id="rId25"/>
    <p:sldId id="308" r:id="rId26"/>
    <p:sldId id="310" r:id="rId27"/>
    <p:sldId id="311" r:id="rId28"/>
    <p:sldId id="319" r:id="rId29"/>
    <p:sldId id="325" r:id="rId30"/>
    <p:sldId id="326" r:id="rId31"/>
    <p:sldId id="327" r:id="rId32"/>
    <p:sldId id="328" r:id="rId33"/>
    <p:sldId id="329" r:id="rId34"/>
    <p:sldId id="330" r:id="rId35"/>
    <p:sldId id="275" r:id="rId36"/>
    <p:sldId id="276" r:id="rId37"/>
    <p:sldId id="278" r:id="rId38"/>
    <p:sldId id="277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331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08" y="114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slide" Target="slides/slide54.xml"  /><Relationship Id="rId57" Type="http://schemas.openxmlformats.org/officeDocument/2006/relationships/slide" Target="slides/slide55.xml"  /><Relationship Id="rId58" Type="http://schemas.openxmlformats.org/officeDocument/2006/relationships/slide" Target="slides/slide56.xml"  /><Relationship Id="rId59" Type="http://schemas.openxmlformats.org/officeDocument/2006/relationships/slide" Target="slides/slide57.xml"  /><Relationship Id="rId6" Type="http://schemas.openxmlformats.org/officeDocument/2006/relationships/slide" Target="slides/slide4.xml"  /><Relationship Id="rId60" Type="http://schemas.openxmlformats.org/officeDocument/2006/relationships/slide" Target="slides/slide58.xml"  /><Relationship Id="rId61" Type="http://schemas.openxmlformats.org/officeDocument/2006/relationships/presProps" Target="presProps.xml"  /><Relationship Id="rId62" Type="http://schemas.openxmlformats.org/officeDocument/2006/relationships/viewProps" Target="viewProps.xml"  /><Relationship Id="rId63" Type="http://schemas.openxmlformats.org/officeDocument/2006/relationships/theme" Target="theme/theme1.xml"  /><Relationship Id="rId64" Type="http://schemas.openxmlformats.org/officeDocument/2006/relationships/tableStyles" Target="tableStyles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7409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3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4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5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6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7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8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9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0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2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3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4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5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6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7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8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9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0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2.xml"  /></Relationships>
</file>

<file path=ppt/notesSlides/_rels/notesSlide4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3.xml"  /></Relationships>
</file>

<file path=ppt/notesSlides/_rels/notesSlide4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4.xml"  /></Relationships>
</file>

<file path=ppt/notesSlides/_rels/notesSlide4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5.xml"  /></Relationships>
</file>

<file path=ppt/notesSlides/_rels/notesSlide4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6.xml"  /></Relationships>
</file>

<file path=ppt/notesSlides/_rels/notesSlide4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7.xml"  /></Relationships>
</file>

<file path=ppt/notesSlides/_rels/notesSlide4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8.xml"  /></Relationships>
</file>

<file path=ppt/notesSlides/_rels/notesSlide4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9.xml"  /></Relationships>
</file>

<file path=ppt/notesSlides/_rels/notesSlide5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0.xml"  /></Relationships>
</file>

<file path=ppt/notesSlides/_rels/notesSlide5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1.xml"  /></Relationships>
</file>

<file path=ppt/notesSlides/_rels/notesSlide5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2.xml"  /></Relationships>
</file>

<file path=ppt/notesSlides/_rels/notesSlide5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3.xml"  /></Relationships>
</file>

<file path=ppt/notesSlides/_rels/notesSlide5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4.xml"  /></Relationships>
</file>

<file path=ppt/notesSlides/_rels/notesSlide5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5.xml"  /></Relationships>
</file>

<file path=ppt/notesSlides/_rels/notesSlide5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6.xml"  /></Relationships>
</file>

<file path=ppt/notesSlides/_rels/notesSlide5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7.xml"  /></Relationships>
</file>

<file path=ppt/notesSlides/_rels/notesSlide5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8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96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75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65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12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45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83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15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0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80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834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570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20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12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879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48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353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631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46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5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713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921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81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269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126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336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270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588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112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19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361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840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234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338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991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299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717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303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644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805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974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840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563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3390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060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744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242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9506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7643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50436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8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9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0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11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3.xml"  /><Relationship Id="rId3" Type="http://schemas.openxmlformats.org/officeDocument/2006/relationships/image" Target="../media/image19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4.xml"  /><Relationship Id="rId3" Type="http://schemas.openxmlformats.org/officeDocument/2006/relationships/image" Target="../media/image20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5.xml"  /><Relationship Id="rId3" Type="http://schemas.openxmlformats.org/officeDocument/2006/relationships/image" Target="../media/image21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6.xml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7.xml"  /><Relationship Id="rId3" Type="http://schemas.openxmlformats.org/officeDocument/2006/relationships/image" Target="../media/image24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8.xml"  /><Relationship Id="rId3" Type="http://schemas.openxmlformats.org/officeDocument/2006/relationships/image" Target="../media/image25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9.xml"  /><Relationship Id="rId3" Type="http://schemas.openxmlformats.org/officeDocument/2006/relationships/image" Target="../media/image26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0.xml"  /><Relationship Id="rId3" Type="http://schemas.openxmlformats.org/officeDocument/2006/relationships/image" Target="../media/image27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1.xml"  /><Relationship Id="rId3" Type="http://schemas.openxmlformats.org/officeDocument/2006/relationships/image" Target="../media/image28.png"  /><Relationship Id="rId4" Type="http://schemas.openxmlformats.org/officeDocument/2006/relationships/image" Target="../media/image29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2.xml"  /><Relationship Id="rId3" Type="http://schemas.openxmlformats.org/officeDocument/2006/relationships/image" Target="../media/image30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3.xml"  /><Relationship Id="rId3" Type="http://schemas.openxmlformats.org/officeDocument/2006/relationships/image" Target="../media/image31.png"  /><Relationship Id="rId4" Type="http://schemas.openxmlformats.org/officeDocument/2006/relationships/image" Target="../media/image3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4.xml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5.xml"  /><Relationship Id="rId3" Type="http://schemas.openxmlformats.org/officeDocument/2006/relationships/image" Target="../media/image33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6.xml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7.xml"  /><Relationship Id="rId3" Type="http://schemas.openxmlformats.org/officeDocument/2006/relationships/image" Target="../media/image36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8.xml"  /><Relationship Id="rId3" Type="http://schemas.openxmlformats.org/officeDocument/2006/relationships/image" Target="../media/image37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9.xml"  /><Relationship Id="rId3" Type="http://schemas.openxmlformats.org/officeDocument/2006/relationships/image" Target="../media/image38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0.xml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1.xml"  /><Relationship Id="rId3" Type="http://schemas.openxmlformats.org/officeDocument/2006/relationships/image" Target="../media/image41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2.xml"  /><Relationship Id="rId3" Type="http://schemas.openxmlformats.org/officeDocument/2006/relationships/image" Target="../media/image42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3.xml"  /><Relationship Id="rId3" Type="http://schemas.openxmlformats.org/officeDocument/2006/relationships/image" Target="../media/image43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4.xml"  /><Relationship Id="rId3" Type="http://schemas.openxmlformats.org/officeDocument/2006/relationships/image" Target="../media/image44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5.xml"  /><Relationship Id="rId3" Type="http://schemas.openxmlformats.org/officeDocument/2006/relationships/image" Target="../media/image45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6.xml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7.xml"  /><Relationship Id="rId3" Type="http://schemas.openxmlformats.org/officeDocument/2006/relationships/image" Target="../media/image48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8.xml"  /><Relationship Id="rId3" Type="http://schemas.openxmlformats.org/officeDocument/2006/relationships/image" Target="../media/image49.png"  /><Relationship Id="rId4" Type="http://schemas.openxmlformats.org/officeDocument/2006/relationships/image" Target="../media/image50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9.xml"  /><Relationship Id="rId3" Type="http://schemas.openxmlformats.org/officeDocument/2006/relationships/image" Target="../media/image51.png"  /><Relationship Id="rId4" Type="http://schemas.openxmlformats.org/officeDocument/2006/relationships/image" Target="../media/image52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0.xml"  /><Relationship Id="rId3" Type="http://schemas.openxmlformats.org/officeDocument/2006/relationships/image" Target="../media/image53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1.xml"  /><Relationship Id="rId3" Type="http://schemas.openxmlformats.org/officeDocument/2006/relationships/image" Target="../media/image54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2.xml"  /><Relationship Id="rId3" Type="http://schemas.openxmlformats.org/officeDocument/2006/relationships/image" Target="../media/image55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3.xml"  /><Relationship Id="rId3" Type="http://schemas.openxmlformats.org/officeDocument/2006/relationships/image" Target="../media/image56.png"  /><Relationship Id="rId4" Type="http://schemas.openxmlformats.org/officeDocument/2006/relationships/image" Target="../media/image57.png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4.xml"  /><Relationship Id="rId3" Type="http://schemas.openxmlformats.org/officeDocument/2006/relationships/image" Target="../media/image58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5.xml"  /><Relationship Id="rId3" Type="http://schemas.openxmlformats.org/officeDocument/2006/relationships/image" Target="../media/image59.png"  /><Relationship Id="rId4" Type="http://schemas.openxmlformats.org/officeDocument/2006/relationships/image" Target="../media/image60.png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6.xml"  /><Relationship Id="rId3" Type="http://schemas.openxmlformats.org/officeDocument/2006/relationships/image" Target="../media/image61.png"  /><Relationship Id="rId4" Type="http://schemas.openxmlformats.org/officeDocument/2006/relationships/image" Target="../media/image62.png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7.xml"  /><Relationship Id="rId3" Type="http://schemas.openxmlformats.org/officeDocument/2006/relationships/image" Target="../media/image63.png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8.xml"  /><Relationship Id="rId3" Type="http://schemas.openxmlformats.org/officeDocument/2006/relationships/image" Target="../media/image64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8000">
                <a:solidFill>
                  <a:schemeClr val="tx1"/>
                </a:solidFill>
                <a:latin typeface="Pretendard Black"/>
                <a:ea typeface="Pretendard Black"/>
              </a:rPr>
              <a:t>Terraform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600">
                <a:solidFill>
                  <a:srgbClr val="7B61FF"/>
                </a:solidFill>
                <a:latin typeface="Pretendard Black"/>
                <a:ea typeface="Pretendard Black"/>
              </a:rPr>
              <a:t>PROJECT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>
                <a:solidFill>
                  <a:srgbClr val="808080"/>
                </a:solidFill>
                <a:latin typeface="Pretendard SemiBold"/>
                <a:ea typeface="Pretendard SemiBold"/>
              </a:rPr>
              <a:t>IaC 개념 · 핵심 명령어 · 코드 리뷰 기반 프로젝트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1828800" cy="0"/>
          </a:xfrm>
          <a:prstGeom prst="line">
            <a:avLst/>
          </a:prstGeom>
          <a:noFill/>
          <a:ln w="25400">
            <a:solidFill>
              <a:srgbClr val="5C4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 b="1">
                <a:solidFill>
                  <a:srgbClr val="808080"/>
                </a:solidFill>
                <a:latin typeface="Pretendard ExtraBold"/>
                <a:ea typeface="Pretendard ExtraBold"/>
              </a:rPr>
              <a:t>[ </a:t>
            </a:r>
            <a:r>
              <a:rPr lang="en-US" altLang="ko-KR" sz="1300" b="1">
                <a:solidFill>
                  <a:srgbClr val="808080"/>
                </a:solidFill>
                <a:latin typeface="Pretendard ExtraBold"/>
                <a:ea typeface="Pretendard ExtraBold"/>
              </a:rPr>
              <a:t>HISTORY</a:t>
            </a:r>
            <a:r>
              <a:rPr lang="en-US" sz="1300" b="1">
                <a:solidFill>
                  <a:srgbClr val="808080"/>
                </a:solidFill>
                <a:latin typeface="Pretendard ExtraBold"/>
                <a:ea typeface="Pretendard ExtraBold"/>
              </a:rPr>
              <a:t> ]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>
                <a:solidFill>
                  <a:srgbClr val="808080"/>
                </a:solidFill>
                <a:latin typeface="Pretendard SemiBold"/>
                <a:ea typeface="Pretendard SemiBold"/>
                <a:cs typeface="Calibri"/>
              </a:rPr>
              <a:t>김동진</a:t>
            </a:r>
            <a:r>
              <a:rPr lang="ko-KR" altLang="en-US" sz="11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1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·</a:t>
            </a:r>
            <a:r>
              <a:rPr lang="ko-KR" altLang="en-US" sz="11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 </a:t>
            </a:r>
            <a:r>
              <a:rPr lang="ko-KR" altLang="en-US" sz="1100">
                <a:solidFill>
                  <a:srgbClr val="808080"/>
                </a:solidFill>
                <a:latin typeface="Pretendard SemiBold"/>
                <a:ea typeface="Pretendard SemiBold"/>
                <a:cs typeface="Calibri"/>
              </a:rPr>
              <a:t>이영훈</a:t>
            </a:r>
            <a:r>
              <a:rPr lang="ko-KR" altLang="en-US" sz="11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1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·</a:t>
            </a:r>
            <a:r>
              <a:rPr lang="ko-KR" altLang="en-US" sz="11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 </a:t>
            </a:r>
            <a:r>
              <a:rPr lang="ko-KR" altLang="en-US" sz="1100">
                <a:solidFill>
                  <a:srgbClr val="808080"/>
                </a:solidFill>
                <a:latin typeface="Pretendard SemiBold"/>
                <a:ea typeface="Pretendard SemiBold"/>
                <a:cs typeface="Calibri"/>
              </a:rPr>
              <a:t>장규혁 </a:t>
            </a:r>
            <a:r>
              <a:rPr lang="en-US" sz="11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·</a:t>
            </a:r>
            <a:r>
              <a:rPr lang="ko-KR" altLang="en-US" sz="1100">
                <a:solidFill>
                  <a:srgbClr val="808080"/>
                </a:solidFill>
                <a:latin typeface="Pretendard SemiBold"/>
                <a:ea typeface="Pretendard SemiBold"/>
                <a:cs typeface="Calibri"/>
              </a:rPr>
              <a:t> 정성현</a:t>
            </a:r>
            <a:endParaRPr lang="en-US" sz="1100">
              <a:solidFill>
                <a:srgbClr val="808080"/>
              </a:solidFill>
              <a:latin typeface="Pretendard SemiBold"/>
              <a:ea typeface="Pretendard SemiBold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90" y="-70104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ExtraBold"/>
                <a:ea typeface="Pretendard ExtraBold"/>
              </a:rPr>
              <a:t>Contents</a:t>
            </a:r>
            <a:endParaRPr lang="en-US" sz="3200">
              <a:latin typeface="Pretendard ExtraBold"/>
              <a:ea typeface="Pretendard ExtraBol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9443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829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800" b="1" dirty="0">
                <a:solidFill>
                  <a:srgbClr val="5C4EE5"/>
                </a:solidFill>
                <a:latin typeface="Pretendard Black"/>
                <a:ea typeface="Pretendard Black"/>
              </a:rPr>
              <a:t>01</a:t>
            </a:r>
            <a:endParaRPr lang="en-US" sz="2800" dirty="0">
              <a:latin typeface="Pretendard Black"/>
              <a:ea typeface="Pretendard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60401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 dirty="0">
                <a:solidFill>
                  <a:srgbClr val="1B1B1F"/>
                </a:solidFill>
                <a:latin typeface="Pretendard Black"/>
                <a:ea typeface="Pretendard Black"/>
              </a:rPr>
              <a:t>Terraform</a:t>
            </a:r>
            <a:endParaRPr lang="en-US" sz="1700" dirty="0">
              <a:latin typeface="Pretendard Black"/>
              <a:ea typeface="Pretendard Black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94233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Infrastructure as Code 개념과 등장 배경 · </a:t>
            </a:r>
            <a:r>
              <a:rPr lang="ko-KR" alt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 </a:t>
            </a: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Provider / Resource / State 등 핵심 구성요소 · </a:t>
            </a:r>
            <a:r>
              <a:rPr lang="ko-KR" alt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워크플로우</a:t>
            </a: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 · </a:t>
            </a:r>
            <a:r>
              <a:rPr lang="ko-KR" alt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주요 명령어</a:t>
            </a:r>
          </a:p>
        </p:txBody>
      </p:sp>
      <p:sp>
        <p:nvSpPr>
          <p:cNvPr id="9" name="Shape 7"/>
          <p:cNvSpPr/>
          <p:nvPr/>
        </p:nvSpPr>
        <p:spPr>
          <a:xfrm>
            <a:off x="396240" y="2521894"/>
            <a:ext cx="8686800" cy="0"/>
          </a:xfrm>
          <a:prstGeom prst="line">
            <a:avLst/>
          </a:prstGeom>
          <a:noFill/>
          <a:ln w="9525">
            <a:solidFill>
              <a:srgbClr val="E5E1F5"/>
            </a:solidFill>
            <a:prstDash val="solid"/>
          </a:ln>
        </p:spPr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E91CB4A-6E92-A154-DD16-B98D3A7D1906}"/>
              </a:ext>
            </a:extLst>
          </p:cNvPr>
          <p:cNvGrpSpPr/>
          <p:nvPr/>
        </p:nvGrpSpPr>
        <p:grpSpPr>
          <a:xfrm>
            <a:off x="457200" y="2785763"/>
            <a:ext cx="8229600" cy="658368"/>
            <a:chOff x="457200" y="2271522"/>
            <a:chExt cx="8229600" cy="658368"/>
          </a:xfrm>
        </p:grpSpPr>
        <p:sp>
          <p:nvSpPr>
            <p:cNvPr id="10" name="Text 8"/>
            <p:cNvSpPr/>
            <p:nvPr/>
          </p:nvSpPr>
          <p:spPr>
            <a:xfrm>
              <a:off x="457200" y="2271522"/>
              <a:ext cx="822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2800" b="1" dirty="0">
                  <a:solidFill>
                    <a:srgbClr val="5C4EE5"/>
                  </a:solidFill>
                  <a:latin typeface="Pretendard Black"/>
                  <a:ea typeface="Pretendard Black"/>
                </a:rPr>
                <a:t>02</a:t>
              </a:r>
              <a:endParaRPr lang="en-US" sz="2800" dirty="0">
                <a:latin typeface="Pretendard Black"/>
                <a:ea typeface="Pretendard Black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371600" y="2317242"/>
              <a:ext cx="5486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700" b="1" dirty="0">
                  <a:solidFill>
                    <a:srgbClr val="1B1B1F"/>
                  </a:solidFill>
                  <a:latin typeface="Pretendard Black"/>
                  <a:ea typeface="Pretendard Black"/>
                </a:rPr>
                <a:t>CI / CD</a:t>
              </a:r>
              <a:endParaRPr lang="en-US" sz="1700" dirty="0">
                <a:latin typeface="Pretendard Black"/>
                <a:ea typeface="Pretendard Black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265557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 dirty="0">
                  <a:solidFill>
                    <a:srgbClr val="5A5A6E"/>
                  </a:solidFill>
                  <a:latin typeface="Pretendard SemiBold"/>
                  <a:ea typeface="Pretendard SemiBold"/>
                </a:rPr>
                <a:t>HCP</a:t>
              </a:r>
              <a:r>
                <a:rPr lang="ko-KR" altLang="en-US" sz="1200" dirty="0">
                  <a:solidFill>
                    <a:srgbClr val="5A5A6E"/>
                  </a:solidFill>
                  <a:latin typeface="Pretendard SemiBold"/>
                  <a:ea typeface="Pretendard SemiBold"/>
                </a:rPr>
                <a:t>를 통한 </a:t>
              </a:r>
              <a:r>
                <a:rPr lang="en-US" altLang="ko-KR" sz="1200" dirty="0">
                  <a:solidFill>
                    <a:srgbClr val="5A5A6E"/>
                  </a:solidFill>
                  <a:latin typeface="Pretendard SemiBold"/>
                  <a:ea typeface="Pretendard SemiBold"/>
                </a:rPr>
                <a:t>Git</a:t>
              </a:r>
              <a:r>
                <a:rPr lang="ko-KR" altLang="en-US" sz="1200" dirty="0">
                  <a:solidFill>
                    <a:srgbClr val="5A5A6E"/>
                  </a:solidFill>
                  <a:latin typeface="Pretendard SemiBold"/>
                  <a:ea typeface="Pretendard SemiBold"/>
                </a:rPr>
                <a:t> 연동</a:t>
              </a:r>
            </a:p>
          </p:txBody>
        </p:sp>
      </p:grpSp>
      <p:sp>
        <p:nvSpPr>
          <p:cNvPr id="13" name="Shape 11"/>
          <p:cNvSpPr/>
          <p:nvPr/>
        </p:nvSpPr>
        <p:spPr>
          <a:xfrm>
            <a:off x="457200" y="3792472"/>
            <a:ext cx="8686800" cy="0"/>
          </a:xfrm>
          <a:prstGeom prst="line">
            <a:avLst/>
          </a:prstGeom>
          <a:noFill/>
          <a:ln w="9525">
            <a:solidFill>
              <a:srgbClr val="E5E1F5"/>
            </a:solidFill>
            <a:prstDash val="solid"/>
          </a:ln>
        </p:spPr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2F62649-25A4-6127-C110-726F7A575BD3}"/>
              </a:ext>
            </a:extLst>
          </p:cNvPr>
          <p:cNvGrpSpPr/>
          <p:nvPr/>
        </p:nvGrpSpPr>
        <p:grpSpPr>
          <a:xfrm>
            <a:off x="457200" y="4010187"/>
            <a:ext cx="8229600" cy="658368"/>
            <a:chOff x="457200" y="2984754"/>
            <a:chExt cx="8229600" cy="658368"/>
          </a:xfrm>
        </p:grpSpPr>
        <p:sp>
          <p:nvSpPr>
            <p:cNvPr id="14" name="Text 12"/>
            <p:cNvSpPr/>
            <p:nvPr/>
          </p:nvSpPr>
          <p:spPr>
            <a:xfrm>
              <a:off x="457200" y="2984754"/>
              <a:ext cx="822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2800" b="1" dirty="0">
                  <a:solidFill>
                    <a:srgbClr val="5C4EE5"/>
                  </a:solidFill>
                  <a:latin typeface="Pretendard Black"/>
                  <a:ea typeface="Pretendard Black"/>
                </a:rPr>
                <a:t>03</a:t>
              </a:r>
              <a:endParaRPr lang="en-US" sz="2800" dirty="0">
                <a:latin typeface="Pretendard Black"/>
                <a:ea typeface="Pretendard Black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1371600" y="3030474"/>
              <a:ext cx="5486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1700" b="1" dirty="0" err="1">
                  <a:solidFill>
                    <a:srgbClr val="1B1B1F"/>
                  </a:solidFill>
                  <a:latin typeface="Pretendard Black"/>
                  <a:ea typeface="Pretendard Black"/>
                </a:rPr>
                <a:t>프로젝트</a:t>
              </a:r>
              <a:r>
                <a:rPr lang="en-US" sz="1700" b="1" dirty="0">
                  <a:solidFill>
                    <a:srgbClr val="1B1B1F"/>
                  </a:solidFill>
                  <a:latin typeface="Pretendard Black"/>
                  <a:ea typeface="Pretendard Black"/>
                </a:rPr>
                <a:t> </a:t>
              </a:r>
              <a:r>
                <a:rPr lang="en-US" sz="1700" b="1" dirty="0" err="1">
                  <a:solidFill>
                    <a:srgbClr val="1B1B1F"/>
                  </a:solidFill>
                  <a:latin typeface="Pretendard Black"/>
                  <a:ea typeface="Pretendard Black"/>
                </a:rPr>
                <a:t>코드</a:t>
              </a:r>
              <a:r>
                <a:rPr lang="en-US" sz="1700" b="1" dirty="0">
                  <a:solidFill>
                    <a:srgbClr val="1B1B1F"/>
                  </a:solidFill>
                  <a:latin typeface="Pretendard Black"/>
                  <a:ea typeface="Pretendard Black"/>
                </a:rPr>
                <a:t> </a:t>
              </a:r>
              <a:r>
                <a:rPr lang="en-US" sz="1700" b="1" dirty="0" err="1">
                  <a:solidFill>
                    <a:srgbClr val="1B1B1F"/>
                  </a:solidFill>
                  <a:latin typeface="Pretendard Black"/>
                  <a:ea typeface="Pretendard Black"/>
                </a:rPr>
                <a:t>리뷰</a:t>
              </a:r>
              <a:endParaRPr lang="en-US" sz="1700" dirty="0">
                <a:latin typeface="Pretendard Black"/>
                <a:ea typeface="Pretendard Black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371600" y="3368802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1200" dirty="0" err="1">
                  <a:solidFill>
                    <a:srgbClr val="5A5A6E"/>
                  </a:solidFill>
                  <a:latin typeface="Pretendard SemiBold"/>
                  <a:ea typeface="Pretendard SemiBold"/>
                </a:rPr>
                <a:t>본문</a:t>
              </a:r>
              <a:r>
                <a:rPr lang="en-US" sz="1200" dirty="0">
                  <a:solidFill>
                    <a:srgbClr val="5A5A6E"/>
                  </a:solidFill>
                  <a:latin typeface="Pretendard SemiBold"/>
                  <a:ea typeface="Pretendard SemiBold"/>
                </a:rPr>
                <a:t> </a:t>
              </a:r>
              <a:r>
                <a:rPr lang="en-US" sz="1200" dirty="0" err="1">
                  <a:solidFill>
                    <a:srgbClr val="5A5A6E"/>
                  </a:solidFill>
                  <a:latin typeface="Pretendard SemiBold"/>
                  <a:ea typeface="Pretendard SemiBold"/>
                </a:rPr>
                <a:t>코드</a:t>
              </a:r>
              <a:r>
                <a:rPr lang="en-US" sz="1200" dirty="0">
                  <a:solidFill>
                    <a:srgbClr val="5A5A6E"/>
                  </a:solidFill>
                  <a:latin typeface="Pretendard SemiBold"/>
                  <a:ea typeface="Pretendard SemiBold"/>
                </a:rPr>
                <a:t> </a:t>
              </a:r>
              <a:r>
                <a:rPr lang="en-US" sz="1200" dirty="0" err="1">
                  <a:solidFill>
                    <a:srgbClr val="5A5A6E"/>
                  </a:solidFill>
                  <a:latin typeface="Pretendard SemiBold"/>
                  <a:ea typeface="Pretendard SemiBold"/>
                </a:rPr>
                <a:t>구조</a:t>
              </a:r>
              <a:r>
                <a:rPr lang="ko-KR" altLang="en-US" sz="1200" dirty="0">
                  <a:solidFill>
                    <a:srgbClr val="5A5A6E"/>
                  </a:solidFill>
                  <a:latin typeface="Pretendard SemiBold"/>
                  <a:ea typeface="Pretendard SemiBold"/>
                </a:rPr>
                <a:t> 분석</a:t>
              </a:r>
              <a:endParaRPr lang="en-US" sz="1200" dirty="0">
                <a:latin typeface="Pretendard SemiBold"/>
                <a:ea typeface="Pretendard SemiBold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191B1FF-121F-1018-F78D-F96687CFA69C}"/>
              </a:ext>
            </a:extLst>
          </p:cNvPr>
          <p:cNvGrpSpPr/>
          <p:nvPr/>
        </p:nvGrpSpPr>
        <p:grpSpPr>
          <a:xfrm>
            <a:off x="457200" y="5236572"/>
            <a:ext cx="8229600" cy="658368"/>
            <a:chOff x="457200" y="3697986"/>
            <a:chExt cx="8229600" cy="658368"/>
          </a:xfrm>
        </p:grpSpPr>
        <p:sp>
          <p:nvSpPr>
            <p:cNvPr id="18" name="Text 16"/>
            <p:cNvSpPr/>
            <p:nvPr/>
          </p:nvSpPr>
          <p:spPr>
            <a:xfrm>
              <a:off x="457200" y="3697986"/>
              <a:ext cx="822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2800" b="1" dirty="0">
                  <a:solidFill>
                    <a:srgbClr val="5C4EE5"/>
                  </a:solidFill>
                  <a:latin typeface="Pretendard Black"/>
                  <a:ea typeface="Pretendard Black"/>
                </a:rPr>
                <a:t>04</a:t>
              </a:r>
              <a:endParaRPr lang="en-US" sz="2800" dirty="0">
                <a:latin typeface="Pretendard Black"/>
                <a:ea typeface="Pretendard Black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371600" y="3743706"/>
              <a:ext cx="5486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700" b="1" dirty="0">
                  <a:solidFill>
                    <a:srgbClr val="1B1B1F"/>
                  </a:solidFill>
                  <a:latin typeface="Pretendard Black"/>
                  <a:ea typeface="Pretendard Black"/>
                </a:rPr>
                <a:t>인프라 구축</a:t>
              </a:r>
            </a:p>
          </p:txBody>
        </p:sp>
        <p:sp>
          <p:nvSpPr>
            <p:cNvPr id="20" name="Text 18"/>
            <p:cNvSpPr/>
            <p:nvPr/>
          </p:nvSpPr>
          <p:spPr>
            <a:xfrm>
              <a:off x="1371600" y="4082034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5A5A6E"/>
                  </a:solidFill>
                  <a:latin typeface="Pretendard SemiBold"/>
                  <a:ea typeface="Pretendard SemiBold"/>
                </a:rPr>
                <a:t>본 프로젝트 실습 진행</a:t>
              </a:r>
            </a:p>
          </p:txBody>
        </p:sp>
      </p:grpSp>
      <p:sp>
        <p:nvSpPr>
          <p:cNvPr id="38" name="Shape 11">
            <a:extLst>
              <a:ext uri="{FF2B5EF4-FFF2-40B4-BE49-F238E27FC236}">
                <a16:creationId xmlns:a16="http://schemas.microsoft.com/office/drawing/2014/main" id="{AE5183F3-74F8-3EFF-5815-8DC9C794EF10}"/>
              </a:ext>
            </a:extLst>
          </p:cNvPr>
          <p:cNvSpPr/>
          <p:nvPr/>
        </p:nvSpPr>
        <p:spPr>
          <a:xfrm>
            <a:off x="474617" y="4994690"/>
            <a:ext cx="8686800" cy="0"/>
          </a:xfrm>
          <a:prstGeom prst="line">
            <a:avLst/>
          </a:prstGeom>
          <a:noFill/>
          <a:ln w="9525">
            <a:solidFill>
              <a:srgbClr val="E5E1F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46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CHAPTER 0</a:t>
            </a:r>
            <a:r>
              <a:rPr lang="en-US" altLang="ko-KR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  /  </a:t>
            </a:r>
            <a:r>
              <a:rPr lang="en-US" altLang="ko-KR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IaC</a:t>
            </a:r>
            <a:r>
              <a:rPr lang="ko-KR" alt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·</a:t>
            </a:r>
            <a:r>
              <a:rPr lang="ko-KR" altLang="en-US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 </a:t>
            </a:r>
            <a:r>
              <a:rPr lang="en-US" altLang="ko-KR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Terraform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3200" kern="0" spc="-50">
                <a:latin typeface="Pretendard Black"/>
                <a:ea typeface="Pretendard Black"/>
                <a:cs typeface="Pretendard SemiBold"/>
              </a:rPr>
              <a:t>Chapter 0</a:t>
            </a:r>
            <a:r>
              <a:rPr lang="en-US" altLang="ko-KR" sz="3200" kern="0" spc="-50">
                <a:latin typeface="Pretendard Black"/>
                <a:ea typeface="Pretendard Black"/>
                <a:cs typeface="Pretendard SemiBold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altLang="ko-KR" sz="1600">
                <a:solidFill>
                  <a:schemeClr val="bg1">
                    <a:lumMod val="50000"/>
                  </a:schemeClr>
                </a:solidFill>
                <a:latin typeface="Pretendard SemiBold"/>
                <a:ea typeface="Pretendard SemiBold"/>
              </a:rPr>
              <a:t>IaC</a:t>
            </a:r>
            <a:r>
              <a:rPr lang="ko-KR" altLang="en-US" sz="1600">
                <a:solidFill>
                  <a:schemeClr val="bg1">
                    <a:lumMod val="50000"/>
                  </a:schemeClr>
                </a:solidFill>
                <a:latin typeface="Pretendard SemiBold"/>
                <a:ea typeface="Pretendard SemiBold"/>
              </a:rPr>
              <a:t>와 테라폼에 대해 알아보자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548640" cy="54864"/>
          </a:xfrm>
          <a:prstGeom prst="rect">
            <a:avLst/>
          </a:prstGeom>
          <a:solidFill>
            <a:srgbClr val="5C4E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0</a:t>
            </a:r>
            <a:r>
              <a:rPr lang="en-US" altLang="ko-KR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4200" b="1">
                <a:solidFill>
                  <a:srgbClr val="1B1B1F"/>
                </a:solidFill>
                <a:latin typeface="Pretendard Black"/>
                <a:ea typeface="Pretendard Black"/>
              </a:rPr>
              <a:t>Terraform</a:t>
            </a:r>
            <a:endParaRPr lang="en-US" sz="4200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Terraform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의 기본 개념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,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 핵심 구성 요소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,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 워크플로우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,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 주요 명령어들을 살펴본다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.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 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 kern="0" spc="20">
                <a:solidFill>
                  <a:srgbClr val="656A76"/>
                </a:solidFill>
                <a:latin typeface="Pretendard"/>
                <a:ea typeface="Pretendard"/>
                <a:cs typeface="Pretendard Regular"/>
              </a:rPr>
              <a:t>IaC</a:t>
            </a:r>
            <a:r>
              <a:rPr lang="ko-KR" altLang="en-US" sz="1000" kern="0" spc="20">
                <a:solidFill>
                  <a:srgbClr val="656A76"/>
                </a:solidFill>
                <a:latin typeface="Pretendard"/>
                <a:ea typeface="Pretendard"/>
                <a:cs typeface="Pretendard Regular"/>
              </a:rPr>
              <a:t>의 개념 및 기능</a:t>
            </a:r>
            <a:r>
              <a:rPr lang="en-US" sz="1000">
                <a:solidFill>
                  <a:srgbClr val="5A5A6E"/>
                </a:solidFill>
                <a:latin typeface="Pretendard"/>
                <a:ea typeface="Pretendard"/>
              </a:rPr>
              <a:t> · </a:t>
            </a:r>
            <a:r>
              <a:rPr lang="ko-KR" altLang="en-US" sz="1000" kern="0" spc="20">
                <a:solidFill>
                  <a:srgbClr val="656A76"/>
                </a:solidFill>
                <a:latin typeface="Pretendard"/>
                <a:ea typeface="Pretendard"/>
                <a:cs typeface="Pretendard Regular"/>
              </a:rPr>
              <a:t> </a:t>
            </a:r>
            <a:r>
              <a:rPr lang="en-US" sz="1000">
                <a:solidFill>
                  <a:srgbClr val="5A5A6E"/>
                </a:solidFill>
                <a:latin typeface="Pretendard"/>
                <a:ea typeface="Pretendard"/>
              </a:rPr>
              <a:t>Provider / Resource / State 등 핵심 구성요소 · </a:t>
            </a:r>
            <a:r>
              <a:rPr lang="ko-KR" altLang="en-US" sz="1000">
                <a:solidFill>
                  <a:srgbClr val="5A5A6E"/>
                </a:solidFill>
                <a:latin typeface="Pretendard"/>
                <a:ea typeface="Pretendard"/>
              </a:rPr>
              <a:t>워크플로우</a:t>
            </a:r>
            <a:r>
              <a:rPr lang="en-US" sz="1000">
                <a:solidFill>
                  <a:srgbClr val="5A5A6E"/>
                </a:solidFill>
                <a:latin typeface="Pretendard"/>
                <a:ea typeface="Pretendard"/>
              </a:rPr>
              <a:t> · </a:t>
            </a:r>
            <a:r>
              <a:rPr lang="ko-KR" altLang="en-US" sz="1000">
                <a:solidFill>
                  <a:srgbClr val="5A5A6E"/>
                </a:solidFill>
                <a:latin typeface="Pretendard"/>
                <a:ea typeface="Pretendard"/>
              </a:rPr>
              <a:t>주요 명령어</a:t>
            </a:r>
            <a:endParaRPr lang="ko-KR" altLang="en-US" sz="1000" kern="0" spc="20">
              <a:solidFill>
                <a:srgbClr val="656A76"/>
              </a:solidFill>
              <a:latin typeface="Pretendard"/>
              <a:ea typeface="Pretendard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3139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4671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IaC란 무엇인가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4107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Infrastructure as Code — 코드로 인프라를 정의하고 관리하는 방식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0683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52650"/>
            <a:ext cx="5394960" cy="2377440"/>
          </a:xfrm>
          <a:prstGeom prst="rect">
            <a:avLst/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52650"/>
            <a:ext cx="73152" cy="2377440"/>
          </a:xfrm>
          <a:prstGeom prst="rect">
            <a:avLst/>
          </a:prstGeom>
          <a:solidFill>
            <a:srgbClr val="5A5A6E"/>
          </a:solidFill>
          <a:ln w="12700">
            <a:solidFill>
              <a:srgbClr val="5A5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981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400">
                <a:solidFill>
                  <a:srgbClr val="5A5A6E"/>
                </a:solidFill>
                <a:latin typeface="Pretendard Black"/>
                <a:ea typeface="Pretendard Black"/>
              </a:rPr>
              <a:t>BEFORE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56413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1B1B1F"/>
                </a:solidFill>
                <a:latin typeface="Pretendard Black"/>
                <a:ea typeface="Pretendard Black"/>
              </a:rPr>
              <a:t>수동 설정 (Click Ops)</a:t>
            </a:r>
            <a:endParaRPr lang="en-US" sz="1800">
              <a:latin typeface="Pretendard Black"/>
              <a:ea typeface="Pretendard Black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02133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1B1B1F"/>
                </a:solidFill>
                <a:latin typeface="Pretendard SemiBold"/>
                <a:ea typeface="Pretendard SemiBold"/>
              </a:rPr>
              <a:t>콘솔에서 클릭으로 리소스 생성</a:t>
            </a:r>
          </a:p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1B1B1F"/>
                </a:solidFill>
                <a:latin typeface="Pretendard SemiBold"/>
                <a:ea typeface="Pretendard SemiBold"/>
              </a:rPr>
              <a:t>같은 환경을 재현하기 어려움</a:t>
            </a:r>
          </a:p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1B1B1F"/>
                </a:solidFill>
                <a:latin typeface="Pretendard SemiBold"/>
                <a:ea typeface="Pretendard SemiBold"/>
              </a:rPr>
              <a:t>변경 이력 추적 불가</a:t>
            </a:r>
          </a:p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1B1B1F"/>
                </a:solidFill>
                <a:latin typeface="Pretendard SemiBold"/>
                <a:ea typeface="Pretendard SemiBold"/>
              </a:rPr>
              <a:t>휴먼 에러 발생 가능성 높음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2152650"/>
            <a:ext cx="5394960" cy="237744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8981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400">
                <a:solidFill>
                  <a:srgbClr val="B5B3C7"/>
                </a:solidFill>
                <a:latin typeface="Pretendard Black"/>
                <a:ea typeface="Pretendard Black"/>
              </a:rPr>
              <a:t>AFTER (IaC)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256413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Pretendard Black"/>
                <a:ea typeface="Pretendard Black"/>
              </a:rPr>
              <a:t>코드로 인프라 정의</a:t>
            </a:r>
            <a:endParaRPr lang="en-US" sz="1800">
              <a:latin typeface="Pretendard Black"/>
              <a:ea typeface="Pretendard Black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37960" y="302133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Pretendard SemiBold"/>
                <a:ea typeface="Pretendard SemiBold"/>
              </a:rPr>
              <a:t>선언적(Declarative) 방식으로 상태 기술</a:t>
            </a:r>
          </a:p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Pretendard SemiBold"/>
                <a:ea typeface="Pretendard SemiBold"/>
              </a:rPr>
              <a:t>동일 환경을 N번이고 재현 가능</a:t>
            </a:r>
          </a:p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Pretendard SemiBold"/>
                <a:ea typeface="Pretendard SemiBold"/>
              </a:rPr>
              <a:t>Git으로 변경 이력 관리</a:t>
            </a:r>
          </a:p>
          <a:p>
            <a:pPr marL="342900" lvl="0" indent="-342900"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Pretendard SemiBold"/>
                <a:ea typeface="Pretendard SemiBold"/>
              </a:rPr>
              <a:t>리뷰 / CI 파이프라인과 결합 가능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542925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ExtraBold"/>
                <a:ea typeface="Pretendard ExtraBold"/>
              </a:rPr>
              <a:t>Keywords</a:t>
            </a:r>
            <a:endParaRPr lang="en-US" sz="1100">
              <a:latin typeface="Pretendard ExtraBold"/>
              <a:ea typeface="Pretendard ExtraBol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5795010"/>
            <a:ext cx="1536192" cy="365760"/>
          </a:xfrm>
          <a:prstGeom prst="rect">
            <a:avLst/>
          </a:prstGeom>
          <a:solidFill>
            <a:srgbClr val="F4F2FF"/>
          </a:solidFill>
          <a:ln w="9525">
            <a:solidFill>
              <a:srgbClr val="5C4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79501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4040B2"/>
                </a:solidFill>
                <a:latin typeface="Pretendard SemiBold"/>
                <a:ea typeface="Pretendard SemiBold"/>
              </a:rPr>
              <a:t>Declarative</a:t>
            </a:r>
            <a:endParaRPr lang="en-US" sz="1200">
              <a:latin typeface="Pretendard SemiBold"/>
              <a:ea typeface="Pretendard SemiBol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130552" y="5795010"/>
            <a:ext cx="1417320" cy="365760"/>
          </a:xfrm>
          <a:prstGeom prst="rect">
            <a:avLst/>
          </a:prstGeom>
          <a:solidFill>
            <a:srgbClr val="F4F2FF"/>
          </a:solidFill>
          <a:ln w="9525">
            <a:solidFill>
              <a:srgbClr val="5C4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579501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4040B2"/>
                </a:solidFill>
                <a:latin typeface="Pretendard SemiBold"/>
                <a:ea typeface="Pretendard SemiBold"/>
              </a:rPr>
              <a:t>Idempotent</a:t>
            </a:r>
            <a:endParaRPr lang="en-US" sz="1200">
              <a:latin typeface="Pretendard SemiBold"/>
              <a:ea typeface="Pretendard SemiBol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85032" y="5795010"/>
            <a:ext cx="2011680" cy="365760"/>
          </a:xfrm>
          <a:prstGeom prst="rect">
            <a:avLst/>
          </a:prstGeom>
          <a:solidFill>
            <a:srgbClr val="F4F2FF"/>
          </a:solidFill>
          <a:ln w="9525">
            <a:solidFill>
              <a:srgbClr val="5C4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579501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4040B2"/>
                </a:solidFill>
                <a:latin typeface="Pretendard Medium"/>
                <a:ea typeface="Pretendard Medium"/>
              </a:rPr>
              <a:t>Version Control</a:t>
            </a:r>
            <a:endParaRPr lang="en-US" sz="1200">
              <a:latin typeface="Pretendard Medium"/>
              <a:ea typeface="Pretendard Medium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33872" y="5795010"/>
            <a:ext cx="1655064" cy="365760"/>
          </a:xfrm>
          <a:prstGeom prst="rect">
            <a:avLst/>
          </a:prstGeom>
          <a:solidFill>
            <a:srgbClr val="F4F2FF"/>
          </a:solidFill>
          <a:ln w="9525">
            <a:solidFill>
              <a:srgbClr val="5C4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579501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4040B2"/>
                </a:solidFill>
                <a:latin typeface="Pretendard SemiBold"/>
                <a:ea typeface="Pretendard SemiBold"/>
              </a:rPr>
              <a:t>Reproducible</a:t>
            </a:r>
            <a:endParaRPr lang="en-US" sz="1200">
              <a:latin typeface="Pretendard SemiBold"/>
              <a:ea typeface="Pretendard SemiBol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26096" y="5795010"/>
            <a:ext cx="1417320" cy="365760"/>
          </a:xfrm>
          <a:prstGeom prst="rect">
            <a:avLst/>
          </a:prstGeom>
          <a:solidFill>
            <a:srgbClr val="F4F2FF"/>
          </a:solidFill>
          <a:ln w="9525">
            <a:solidFill>
              <a:srgbClr val="5C4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579501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4040B2"/>
                </a:solidFill>
                <a:latin typeface="Pretendard Medium"/>
                <a:ea typeface="Pretendard Medium"/>
              </a:rPr>
              <a:t>Automation</a:t>
            </a:r>
            <a:endParaRPr lang="en-US" sz="1200">
              <a:latin typeface="Pretendard Medium"/>
              <a:ea typeface="Pretendar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Terraform </a:t>
            </a:r>
            <a:r>
              <a:rPr lang="ko-KR" alt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특징 및</a:t>
            </a: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 구성요소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Provider · Resource · State · Module · Variable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3703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703320" cy="7315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 kern="0" spc="200">
                <a:solidFill>
                  <a:srgbClr val="5C4EE5"/>
                </a:solidFill>
                <a:latin typeface="Pretendard Black"/>
                <a:ea typeface="Pretendard Black"/>
              </a:rPr>
              <a:t>01</a:t>
            </a:r>
            <a:endParaRPr lang="en-US" sz="1200">
              <a:latin typeface="Pretendard Black"/>
              <a:ea typeface="Pretendard Blac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800" b="1">
                <a:solidFill>
                  <a:srgbClr val="1B1B1F"/>
                </a:solidFill>
                <a:latin typeface="Pretendard Black"/>
                <a:ea typeface="Pretendard Black"/>
              </a:rPr>
              <a:t>HCL</a:t>
            </a:r>
            <a:r>
              <a:rPr lang="en-US" altLang="ko-KR" sz="1300" b="1">
                <a:solidFill>
                  <a:srgbClr val="1B1B1F"/>
                </a:solidFill>
                <a:latin typeface="Pretendard Black"/>
                <a:ea typeface="Pretendard Black"/>
              </a:rPr>
              <a:t>(HashiCorp Configuration Languae)</a:t>
            </a:r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테라폼 구성 파일을 작성하는 데 사용되는 언어</a:t>
            </a:r>
          </a:p>
          <a:p>
            <a:pPr marL="0" lvl="0" indent="0">
              <a:buNone/>
              <a:defRPr/>
            </a:pPr>
            <a:endParaRPr lang="en-US" sz="1200">
              <a:solidFill>
                <a:srgbClr val="5A5A6E"/>
              </a:solidFill>
              <a:latin typeface="Pretendard SemiBold"/>
              <a:ea typeface="Pretendard SemiBold"/>
            </a:endParaRPr>
          </a:p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사람이 읽기 쉬우면서도 기계가 해석하기 용이하도록 설계되</a:t>
            </a:r>
            <a:r>
              <a:rPr lang="ko-KR" alt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었다</a:t>
            </a:r>
            <a:r>
              <a:rPr lang="en-US" altLang="ko-KR" sz="1200">
                <a:solidFill>
                  <a:srgbClr val="5A5A6E"/>
                </a:solidFill>
                <a:latin typeface="Pretendard SemiBold"/>
                <a:ea typeface="Pretendard SemiBold"/>
              </a:rPr>
              <a:t>.</a:t>
            </a:r>
          </a:p>
        </p:txBody>
      </p:sp>
      <p:sp>
        <p:nvSpPr>
          <p:cNvPr id="12" name="Shape 10"/>
          <p:cNvSpPr/>
          <p:nvPr/>
        </p:nvSpPr>
        <p:spPr>
          <a:xfrm>
            <a:off x="4251960" y="2103120"/>
            <a:ext cx="3703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  <p:txBody>
          <a:bodyPr anchor="ctr"/>
          <a:lstStyle/>
          <a:p>
            <a:pPr marL="0" lvl="0" indent="0">
              <a:buNone/>
              <a:defRPr/>
            </a:pPr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251960" y="2103120"/>
            <a:ext cx="3703320" cy="7315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 kern="0" spc="200">
                <a:solidFill>
                  <a:srgbClr val="5C4EE5"/>
                </a:solidFill>
                <a:latin typeface="Pretendard Black"/>
                <a:ea typeface="Pretendard Black"/>
              </a:rPr>
              <a:t>02</a:t>
            </a:r>
            <a:endParaRPr lang="en-US" sz="1200">
              <a:latin typeface="Pretendard Black"/>
              <a:ea typeface="Pretendard Black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b="1">
                <a:solidFill>
                  <a:srgbClr val="1B1B1F"/>
                </a:solidFill>
                <a:latin typeface="Pretendard Black"/>
                <a:ea typeface="Pretendard Black"/>
              </a:rPr>
              <a:t>State (.tfstate)</a:t>
            </a:r>
            <a:endParaRPr lang="en-US" sz="1800">
              <a:latin typeface="Pretendard Black"/>
              <a:ea typeface="Pretendard Black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0560" y="30632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Terraform이 실제 인프라와 코드의 현재 상태를 매핑해 저장하는 파일. 분실 시 매우 위험.</a:t>
            </a:r>
            <a:endParaRPr lang="en-US" sz="1200">
              <a:latin typeface="Pretendard Medium"/>
              <a:ea typeface="Pretendard Mediu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703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103120"/>
            <a:ext cx="3703320" cy="7315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 kern="0" spc="200">
                <a:solidFill>
                  <a:srgbClr val="5C4EE5"/>
                </a:solidFill>
                <a:latin typeface="Pretendard Black"/>
                <a:ea typeface="Pretendard Black"/>
              </a:rPr>
              <a:t>03</a:t>
            </a:r>
            <a:endParaRPr lang="en-US" sz="1200">
              <a:latin typeface="Pretendard Black"/>
              <a:ea typeface="Pretendard Black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75320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b="1">
                <a:solidFill>
                  <a:srgbClr val="1B1B1F"/>
                </a:solidFill>
                <a:latin typeface="Pretendard Black"/>
                <a:ea typeface="Pretendard Black"/>
              </a:rPr>
              <a:t>Execution Plan</a:t>
            </a:r>
          </a:p>
        </p:txBody>
      </p:sp>
      <p:sp>
        <p:nvSpPr>
          <p:cNvPr id="21" name="Text 19"/>
          <p:cNvSpPr/>
          <p:nvPr/>
        </p:nvSpPr>
        <p:spPr>
          <a:xfrm>
            <a:off x="8275320" y="30632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Medium"/>
                <a:ea typeface="Pretendard Medium"/>
              </a:rPr>
              <a:t>terraform plan 명령어를 </a:t>
            </a:r>
            <a:r>
              <a:rPr lang="ko-KR" altLang="en-US" sz="1200">
                <a:solidFill>
                  <a:srgbClr val="5A5A6E"/>
                </a:solidFill>
                <a:latin typeface="Pretendard Medium"/>
                <a:ea typeface="Pretendard Medium"/>
              </a:rPr>
              <a:t>통해 </a:t>
            </a:r>
            <a:r>
              <a:rPr lang="en-US" sz="1200">
                <a:solidFill>
                  <a:srgbClr val="5A5A6E"/>
                </a:solidFill>
                <a:latin typeface="Pretendard Medium"/>
                <a:ea typeface="Pretendard Medium"/>
              </a:rPr>
              <a:t>현재 인프라 상태와 구성 파일의 목표 상태 를 비교하여 어떤 리소스를 생성, 수정, 또는 삭제할지 미리 </a:t>
            </a:r>
            <a:r>
              <a:rPr lang="ko-KR" altLang="en-US" sz="1200">
                <a:solidFill>
                  <a:srgbClr val="5A5A6E"/>
                </a:solidFill>
                <a:latin typeface="Pretendard Medium"/>
                <a:ea typeface="Pretendard Medium"/>
              </a:rPr>
              <a:t>확인한다</a:t>
            </a:r>
            <a:r>
              <a:rPr lang="en-US" altLang="ko-KR" sz="1200">
                <a:solidFill>
                  <a:srgbClr val="5A5A6E"/>
                </a:solidFill>
                <a:latin typeface="Pretendard Medium"/>
                <a:ea typeface="Pretendard Medium"/>
              </a:rPr>
              <a:t>.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703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97680"/>
            <a:ext cx="3703320" cy="7315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800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b="1">
                <a:solidFill>
                  <a:srgbClr val="1B1B1F"/>
                </a:solidFill>
                <a:latin typeface="Pretendard Black"/>
                <a:ea typeface="Pretendard Black"/>
              </a:rPr>
              <a:t>Resource</a:t>
            </a:r>
            <a:endParaRPr lang="en-US" sz="1800">
              <a:latin typeface="Pretendard Black"/>
              <a:ea typeface="Pretendard Black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52578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Medium"/>
                <a:ea typeface="Pretendard Medium"/>
              </a:rPr>
              <a:t>실제로 만들어지는 인프라 단위. EC2, VPC, S3 같은 객체를 코드로 선언한다.</a:t>
            </a:r>
            <a:endParaRPr lang="en-US" sz="1200">
              <a:latin typeface="Pretendard SemiBold"/>
              <a:ea typeface="Pretendard SemiBol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251960" y="4297680"/>
            <a:ext cx="3703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4297680"/>
            <a:ext cx="3703320" cy="7315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4800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b="1">
                <a:solidFill>
                  <a:srgbClr val="1B1B1F"/>
                </a:solidFill>
                <a:latin typeface="Pretendard Black"/>
                <a:ea typeface="Pretendard Black"/>
              </a:rPr>
              <a:t>Module</a:t>
            </a:r>
            <a:endParaRPr lang="en-US" sz="1800">
              <a:latin typeface="Pretendard Black"/>
              <a:ea typeface="Pretendard Black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480560" y="52578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여러 리소스를 묶어 재사용 가능한 단위로 만든 것. </a:t>
            </a:r>
          </a:p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폴더 구조로 관리한다.</a:t>
            </a:r>
            <a:endParaRPr lang="en-US" sz="1200">
              <a:latin typeface="Pretendard SemiBold"/>
              <a:ea typeface="Pretendard SemiBol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46720" y="4297680"/>
            <a:ext cx="3703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4297680"/>
            <a:ext cx="3703320" cy="7315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75320" y="4800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1B1B1F"/>
                </a:solidFill>
                <a:latin typeface="Pretendard Black"/>
                <a:ea typeface="Pretendard Black"/>
              </a:rPr>
              <a:t>Backend</a:t>
            </a:r>
            <a:endParaRPr lang="en-US" sz="1800">
              <a:latin typeface="Pretendard Black"/>
              <a:ea typeface="Pretendard Black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75320" y="52578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A5A6E"/>
                </a:solidFill>
                <a:latin typeface="Pretendard SemiBold"/>
                <a:ea typeface="Pretendard SemiBold"/>
              </a:rPr>
              <a:t>State 파일을 어디에 저장할지 정의 (local, S3, Terraform Cloud 등). 협업 시 원격 backend 필수.</a:t>
            </a:r>
            <a:endParaRPr lang="en-US" sz="1200">
              <a:latin typeface="Pretendard SemiBold"/>
              <a:ea typeface="Pretendard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Terraform 워크플로우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Write → Init → Plan → Apply → Destroy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21031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C4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2103120" cy="64008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Pretendard Black"/>
                <a:ea typeface="Pretendard Black"/>
              </a:rPr>
              <a:t>01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B1B1F"/>
                </a:solidFill>
                <a:latin typeface="Pretendard Black"/>
                <a:ea typeface="Pretendard Black"/>
              </a:rPr>
              <a:t>Write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5A5A6E"/>
                </a:solidFill>
                <a:latin typeface="Pretendard SemiBold"/>
                <a:ea typeface="Pretendard SemiBold"/>
              </a:rPr>
              <a:t>.tf 파일에 인프라 정의</a:t>
            </a:r>
            <a:endParaRPr lang="en-US" sz="1100">
              <a:latin typeface="Pretendard SemiBold"/>
              <a:ea typeface="Pretendard SemiBol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0320" y="3200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2743200" y="2377440"/>
            <a:ext cx="21031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C4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377440"/>
            <a:ext cx="2103120" cy="64008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Pretendard Black"/>
                <a:ea typeface="Pretendard Black"/>
              </a:rPr>
              <a:t>02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B1B1F"/>
                </a:solidFill>
                <a:latin typeface="Pretendard Black"/>
                <a:ea typeface="Pretendard Black"/>
              </a:rPr>
              <a:t>Init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80360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5A5A6E"/>
                </a:solidFill>
                <a:latin typeface="Pretendard SemiBold"/>
                <a:ea typeface="Pretendard SemiBold"/>
              </a:rPr>
              <a:t>Provider 다운로드, </a:t>
            </a:r>
          </a:p>
          <a:p>
            <a:pPr marL="0" lvl="0" indent="0" algn="ctr">
              <a:buNone/>
              <a:defRPr/>
            </a:pPr>
            <a:r>
              <a:rPr lang="en-US" sz="1100">
                <a:solidFill>
                  <a:srgbClr val="5A5A6E"/>
                </a:solidFill>
                <a:latin typeface="Pretendard SemiBold"/>
                <a:ea typeface="Pretendard SemiBold"/>
              </a:rPr>
              <a:t>backend 설정</a:t>
            </a:r>
            <a:endParaRPr lang="en-US" sz="1100">
              <a:latin typeface="Pretendard SemiBold"/>
              <a:ea typeface="Pretendard SemiBol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21031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C4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377440"/>
            <a:ext cx="2103120" cy="64008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Pretendard Black"/>
                <a:ea typeface="Pretendard Black"/>
              </a:rPr>
              <a:t>03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B1B1F"/>
                </a:solidFill>
                <a:latin typeface="Pretendard Black"/>
                <a:ea typeface="Pretendard Black"/>
              </a:rPr>
              <a:t>Plan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5A5A6E"/>
                </a:solidFill>
                <a:latin typeface="Pretendard SemiBold"/>
                <a:ea typeface="Pretendard SemiBold"/>
              </a:rPr>
              <a:t>실제 변경될 내용 미리보기</a:t>
            </a:r>
            <a:endParaRPr lang="en-US" sz="1100">
              <a:latin typeface="Pretendard SemiBold"/>
              <a:ea typeface="Pretendard SemiBol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0" y="3200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7315200" y="2377440"/>
            <a:ext cx="21031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C4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377440"/>
            <a:ext cx="2103120" cy="64008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Pretendard Black"/>
                <a:ea typeface="Pretendard Black"/>
              </a:rPr>
              <a:t>04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B1B1F"/>
                </a:solidFill>
                <a:latin typeface="Pretendard Black"/>
                <a:ea typeface="Pretendard Black"/>
              </a:rPr>
              <a:t>Apply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52360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5A5A6E"/>
                </a:solidFill>
                <a:latin typeface="Pretendard SemiBold"/>
                <a:ea typeface="Pretendard SemiBold"/>
              </a:rPr>
              <a:t>변경사항을 실제 인프라에 반영</a:t>
            </a:r>
            <a:endParaRPr lang="en-US" sz="1100">
              <a:latin typeface="Pretendard SemiBold"/>
              <a:ea typeface="Pretendard SemiBol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18320" y="3200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9601200" y="2377440"/>
            <a:ext cx="21031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C4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377440"/>
            <a:ext cx="2103120" cy="64008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Pretendard Black"/>
                <a:ea typeface="Pretendard Black"/>
              </a:rPr>
              <a:t>05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60120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B1B1F"/>
                </a:solidFill>
                <a:latin typeface="Pretendard Black"/>
                <a:ea typeface="Pretendard Black"/>
              </a:rPr>
              <a:t>Destroy</a:t>
            </a:r>
            <a:endParaRPr lang="en-US" sz="2200">
              <a:latin typeface="Pretendard Black"/>
              <a:ea typeface="Pretendard Black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38360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5A5A6E"/>
                </a:solidFill>
                <a:latin typeface="Pretendard SemiBold"/>
                <a:ea typeface="Pretendard SemiBold"/>
              </a:rPr>
              <a:t>만든 리소스를 모두 제거</a:t>
            </a:r>
            <a:endParaRPr lang="en-US" sz="1100">
              <a:latin typeface="Pretendard SemiBold"/>
              <a:ea typeface="Pretendard SemiBol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937760"/>
            <a:ext cx="73152" cy="128016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💡 TIP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5800" y="5349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1B1B1F"/>
                </a:solidFill>
                <a:latin typeface="Pretendard Black"/>
                <a:ea typeface="Pretendard Black"/>
              </a:rPr>
              <a:t>apply 전에는 반드시 plan으로 변경 내역을 확인할 것.</a:t>
            </a:r>
            <a:endParaRPr lang="en-US" sz="1300" b="1">
              <a:solidFill>
                <a:srgbClr val="1B1B1F"/>
              </a:solidFill>
              <a:latin typeface="Pretendard SemiBold"/>
              <a:ea typeface="Pretendard SemiBold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1B1B1F"/>
                </a:solidFill>
                <a:latin typeface="Pretendard"/>
                <a:ea typeface="Pretendard"/>
              </a:rPr>
              <a:t>안정성을 위해 plan을 통해 변경 내역을 먼저 확인</a:t>
            </a:r>
            <a:r>
              <a:rPr lang="ko-KR" altLang="en-US" sz="1300">
                <a:solidFill>
                  <a:srgbClr val="1B1B1F"/>
                </a:solidFill>
                <a:latin typeface="Pretendard"/>
                <a:ea typeface="Pretendard"/>
              </a:rPr>
              <a:t>하는 것이 권장된다</a:t>
            </a:r>
            <a:r>
              <a:rPr lang="en-US" altLang="ko-KR" sz="1300">
                <a:solidFill>
                  <a:srgbClr val="1B1B1F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23FAC79-8CD0-5F6B-2CF7-D82042B60CFC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001F0B-70C6-48DF-8306-879A4AB1E5E4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chemeClr val="tx1"/>
                </a:solidFill>
                <a:latin typeface="Pretendard Black"/>
                <a:ea typeface="Pretendard Black"/>
              </a:rPr>
              <a:t>주요 명령어 — 핵심 5종</a:t>
            </a:r>
            <a:r>
              <a:rPr lang="ko-KR" altLang="en-US" sz="3200" b="1">
                <a:solidFill>
                  <a:schemeClr val="tx1"/>
                </a:solidFill>
                <a:latin typeface="Pretendard Black"/>
                <a:ea typeface="Pretendard Black"/>
              </a:rPr>
              <a:t> </a:t>
            </a:r>
            <a:r>
              <a:rPr lang="en-US" sz="3200">
                <a:solidFill>
                  <a:schemeClr val="tx1"/>
                </a:solidFill>
                <a:latin typeface="Pretendard Black"/>
                <a:ea typeface="Pretendard Black"/>
              </a:rPr>
              <a:t>· </a:t>
            </a:r>
            <a:r>
              <a:rPr lang="ko-KR" altLang="en-US" sz="3200">
                <a:solidFill>
                  <a:schemeClr val="tx1"/>
                </a:solidFill>
                <a:latin typeface="Pretendard Black"/>
                <a:ea typeface="Pretendard Black"/>
              </a:rPr>
              <a:t>기타 </a:t>
            </a:r>
            <a:r>
              <a:rPr lang="en-US" altLang="ko-KR" sz="3200">
                <a:solidFill>
                  <a:schemeClr val="tx1"/>
                </a:solidFill>
                <a:latin typeface="Pretendard Black"/>
                <a:ea typeface="Pretendard Black"/>
              </a:rPr>
              <a:t>4</a:t>
            </a:r>
            <a:r>
              <a:rPr lang="ko-KR" altLang="en-US" sz="3200">
                <a:solidFill>
                  <a:schemeClr val="tx1"/>
                </a:solidFill>
                <a:latin typeface="Pretendard Black"/>
                <a:ea typeface="Pretendard Black"/>
              </a:rPr>
              <a:t>종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가장 자주 쓰는 명령과 옵션 정리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2194560"/>
          <a:ext cx="6579870" cy="4114800"/>
        </p:xfrm>
        <a:graphic>
          <a:graphicData uri="http://schemas.openxmlformats.org/drawingml/2006/table">
            <a:tbl>
              <a:tblPr firstRow="1" bandRow="1"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2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lv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Pretendard Black"/>
                          <a:ea typeface="Pretendard Black"/>
                        </a:rPr>
                        <a:t>명령어</a:t>
                      </a:r>
                      <a:endParaRPr lang="en-US" sz="1200">
                        <a:latin typeface="Pretendard Black"/>
                        <a:ea typeface="Pretendard Black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C4E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Pretendard Black"/>
                          <a:ea typeface="Pretendard Black"/>
                        </a:rPr>
                        <a:t>설명</a:t>
                      </a:r>
                      <a:endParaRPr lang="en-US" sz="1200">
                        <a:latin typeface="Pretendard Black"/>
                        <a:ea typeface="Pretendard Black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C4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B1B1F"/>
                          </a:solidFill>
                          <a:latin typeface="Consolas"/>
                        </a:rPr>
                        <a:t>terraform init</a:t>
                      </a:r>
                      <a:endParaRPr lang="en-US" sz="1200" b="1">
                        <a:latin typeface="Consola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프로젝트 초기화 / provider 다운로드</a:t>
                      </a:r>
                      <a:endParaRPr lang="en-US" sz="1200">
                        <a:latin typeface="Pretendard"/>
                        <a:ea typeface="Pretendard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B1B1F"/>
                          </a:solidFill>
                          <a:latin typeface="Consolas"/>
                        </a:rPr>
                        <a:t>terraform validate</a:t>
                      </a:r>
                      <a:endParaRPr lang="en-US" sz="1200" b="1">
                        <a:latin typeface="Consola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문법 / 설정 검증</a:t>
                      </a:r>
                      <a:endParaRPr lang="en-US" sz="1200">
                        <a:latin typeface="Pretendard"/>
                        <a:ea typeface="Pretendard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B1B1F"/>
                          </a:solidFill>
                          <a:latin typeface="Consolas"/>
                        </a:rPr>
                        <a:t>terraform plan</a:t>
                      </a:r>
                      <a:endParaRPr lang="en-US" sz="1200" b="1">
                        <a:latin typeface="Consola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변경 예정 사항 미리보기</a:t>
                      </a:r>
                      <a:endParaRPr lang="en-US" sz="1200">
                        <a:latin typeface="Pretendard"/>
                        <a:ea typeface="Pretendard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B1B1F"/>
                          </a:solidFill>
                          <a:latin typeface="Consolas"/>
                        </a:rPr>
                        <a:t>terraform apply</a:t>
                      </a:r>
                      <a:endParaRPr lang="en-US" sz="1200" b="1">
                        <a:latin typeface="Consola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실제 인프라에 변경 적용</a:t>
                      </a:r>
                      <a:endParaRPr lang="en-US" sz="1200">
                        <a:latin typeface="Pretendard"/>
                        <a:ea typeface="Pretendard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B1B1F"/>
                          </a:solidFill>
                          <a:latin typeface="Consolas"/>
                        </a:rPr>
                        <a:t>terraform destroy</a:t>
                      </a:r>
                      <a:endParaRPr lang="en-US" sz="1200" b="1">
                        <a:latin typeface="Consola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관리 중인 모든 리소스 제거</a:t>
                      </a:r>
                      <a:endParaRPr lang="en-US" sz="1200">
                        <a:latin typeface="Pretendard"/>
                        <a:ea typeface="Pretendard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Consolas"/>
                        </a:rPr>
                        <a:t>terraform fmt</a:t>
                      </a:r>
                      <a:endParaRPr lang="en-US" sz="1200">
                        <a:latin typeface="Consola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코드 포매팅 (들여쓰기 정리)</a:t>
                      </a:r>
                      <a:endParaRPr lang="en-US" sz="1200">
                        <a:latin typeface="Pretendard"/>
                        <a:ea typeface="Pretendard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Consolas"/>
                        </a:rPr>
                        <a:t>terraform </a:t>
                      </a:r>
                      <a:r>
                        <a:rPr lang="en-US" altLang="ko-KR" sz="1200">
                          <a:solidFill>
                            <a:srgbClr val="1B1B1F"/>
                          </a:solidFill>
                          <a:latin typeface="Consolas"/>
                        </a:rPr>
                        <a:t>show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latin typeface="Pretendard"/>
                          <a:ea typeface="Pretendard"/>
                        </a:rPr>
                        <a:t>인프라의 상세 정보</a:t>
                      </a:r>
                      <a:r>
                        <a:rPr lang="ko-KR" altLang="en-US" sz="1200">
                          <a:latin typeface="Pretendard"/>
                          <a:ea typeface="Pretendard"/>
                        </a:rPr>
                        <a:t> 확인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Consolas"/>
                        </a:rPr>
                        <a:t>terraform </a:t>
                      </a:r>
                      <a:r>
                        <a:rPr lang="en-US" altLang="ko-KR" sz="1200">
                          <a:solidFill>
                            <a:srgbClr val="1B1B1F"/>
                          </a:solidFill>
                          <a:latin typeface="Consolas"/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output 블록</a:t>
                      </a:r>
                      <a:r>
                        <a:rPr lang="ko-KR" alt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의 값 출력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Consolas"/>
                        </a:rPr>
                        <a:t>terraform </a:t>
                      </a:r>
                      <a:r>
                        <a:rPr lang="en-US" altLang="ko-KR" sz="1200">
                          <a:solidFill>
                            <a:srgbClr val="1B1B1F"/>
                          </a:solidFill>
                          <a:latin typeface="Consolas"/>
                        </a:rPr>
                        <a:t>import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기존 인프라 리소스를 테라폼</a:t>
                      </a:r>
                      <a:r>
                        <a:rPr lang="ko-KR" alt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 으</a:t>
                      </a:r>
                      <a:r>
                        <a:rPr lang="en-US" sz="1200">
                          <a:solidFill>
                            <a:srgbClr val="1B1B1F"/>
                          </a:solidFill>
                          <a:latin typeface="Pretendard"/>
                          <a:ea typeface="Pretendard"/>
                        </a:rPr>
                        <a:t>로 가져와 관리 대상으로 편입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1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2194560"/>
            <a:ext cx="4480560" cy="41148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23760" y="2194560"/>
            <a:ext cx="54864" cy="4114799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200">
                <a:solidFill>
                  <a:srgbClr val="A78BFA"/>
                </a:solidFill>
                <a:latin typeface="Pretendard Black"/>
                <a:ea typeface="Pretendard Black"/>
              </a:rPr>
              <a:t>MOST USED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06640" y="2578608"/>
            <a:ext cx="4206240" cy="3575957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# 1. 작업 디렉토리 초기화</a:t>
            </a: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$ terraform init</a:t>
            </a:r>
          </a:p>
          <a:p>
            <a:pPr marL="0" lvl="0" indent="0">
              <a:buNone/>
              <a:defRPr/>
            </a:pPr>
            <a:endParaRPr lang="en-US" sz="13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ko-KR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. </a:t>
            </a:r>
            <a:r>
              <a:rPr lang="en-US" altLang="ko-KR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tf.file</a:t>
            </a:r>
            <a:r>
              <a:rPr lang="ko-KR" alt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 문법 검증</a:t>
            </a: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$ terraform init</a:t>
            </a:r>
          </a:p>
          <a:p>
            <a:pPr marL="0" lvl="0" indent="0">
              <a:buNone/>
              <a:defRPr/>
            </a:pPr>
            <a:endParaRPr lang="en-US" sz="13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ko-KR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. 변경사항 미리보기</a:t>
            </a: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$ terraform plan</a:t>
            </a:r>
          </a:p>
          <a:p>
            <a:pPr marL="0" lvl="0" indent="0">
              <a:buNone/>
              <a:defRPr/>
            </a:pPr>
            <a:endParaRPr lang="en-US" sz="13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ko-KR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4</a:t>
            </a: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. 변경사항 적용</a:t>
            </a: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$ terraform apply</a:t>
            </a:r>
          </a:p>
          <a:p>
            <a:pPr marL="0" lvl="0" indent="0">
              <a:buNone/>
              <a:defRPr/>
            </a:pPr>
            <a:endParaRPr lang="en-US" sz="13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ko-KR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5</a:t>
            </a:r>
            <a:r>
              <a:rPr lang="en-US" sz="1300">
                <a:solidFill>
                  <a:srgbClr val="7DD3A0"/>
                </a:solidFill>
                <a:latin typeface="Consolas"/>
                <a:ea typeface="Consolas"/>
                <a:cs typeface="Consolas"/>
              </a:rPr>
              <a:t>. 리소스 제거</a:t>
            </a: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$ terraform destroy</a:t>
            </a:r>
            <a:endParaRPr lang="en-US" sz="13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C79429F-B594-2AE2-28FB-EA01C16BDA41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32CDA2-E2EC-35A2-7324-EA5C12EBB891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명령어 상세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init · plan · apply 더 깊이 보기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73152" cy="13716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04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B1B1F"/>
                </a:solidFill>
                <a:latin typeface="Pretendard"/>
                <a:ea typeface="Pretendard"/>
              </a:rPr>
              <a:t>프로젝트를 처음 사용하거나 backend / provider 설정이 바뀌었을 때 실행. .terraform/ 디렉토리와 lock 파일이 생성된다.</a:t>
            </a:r>
            <a:endParaRPr lang="en-US" sz="1200">
              <a:latin typeface="Pretendard"/>
              <a:ea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주요 옵션</a:t>
            </a:r>
            <a:endParaRPr lang="en-US" sz="1000">
              <a:latin typeface="Pretendard Black"/>
              <a:ea typeface="Pretendard Black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0" y="2560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-upgrade : provider 버전 업그레이드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-reconfigure : backend 재설정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1247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11880"/>
            <a:ext cx="73152" cy="13716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04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B1B1F"/>
                </a:solidFill>
                <a:latin typeface="Pretendard"/>
                <a:ea typeface="Pretendard"/>
              </a:rPr>
              <a:t>코드와 실제 인프라의 차이를 계산해 무엇이 추가/변경/삭제될지 출력. 실제 적용은 하지 않는다.</a:t>
            </a:r>
            <a:endParaRPr lang="en-US" sz="1200">
              <a:latin typeface="Pretendard"/>
              <a:ea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주요 옵션</a:t>
            </a:r>
            <a:endParaRPr lang="en-US" sz="1000">
              <a:latin typeface="Pretendard Black"/>
              <a:ea typeface="Pretendard Black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0" y="4069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-out=plan.tfplan : 결과를 파일로 저장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-var-file=prod.tfvars : 변수 파일 지정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120640"/>
            <a:ext cx="73152" cy="13716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04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" y="5623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B1B1F"/>
                </a:solidFill>
                <a:latin typeface="Pretendard"/>
                <a:ea typeface="Pretendard"/>
              </a:rPr>
              <a:t>plan에서 본 변경사항을 실제로 적용. yes 입력 또는 -auto-approve로 진행된다.</a:t>
            </a:r>
            <a:endParaRPr lang="en-US" sz="1200">
              <a:latin typeface="Pretendard"/>
              <a:ea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주요 옵션</a:t>
            </a:r>
            <a:endParaRPr lang="en-US" sz="1000">
              <a:latin typeface="Pretendard Black"/>
              <a:ea typeface="Pretendard Black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8000" y="5577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-auto-approve : 확인 단계 생략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plan.tfplan : plan 결과 파일 적용</a:t>
            </a:r>
            <a:endParaRPr lang="en-US" sz="11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E6577B4-4910-5EC9-9C29-1A397683E3C1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628DBD-BE93-F8FA-137A-30FDA658A258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46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CHAPTER 0</a:t>
            </a:r>
            <a:r>
              <a:rPr lang="en-US" altLang="ko-KR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  /  </a:t>
            </a:r>
            <a:r>
              <a:rPr lang="en-US" altLang="ko-KR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CI</a:t>
            </a:r>
            <a:r>
              <a:rPr lang="en-US" sz="1000">
                <a:solidFill>
                  <a:srgbClr val="5A5A6E"/>
                </a:solidFill>
                <a:latin typeface="Pretendard SemiBold"/>
                <a:ea typeface="Pretendard SemiBold"/>
              </a:rPr>
              <a:t> · </a:t>
            </a:r>
            <a:r>
              <a:rPr lang="en-US" altLang="ko-KR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CD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3200" kern="0" spc="-50">
                <a:latin typeface="Pretendard Black"/>
                <a:ea typeface="Pretendard Black"/>
                <a:cs typeface="Pretendard SemiBold"/>
              </a:rPr>
              <a:t>Chapter 0</a:t>
            </a:r>
            <a:r>
              <a:rPr lang="en-US" altLang="ko-KR" sz="3200" kern="0" spc="-50">
                <a:latin typeface="Pretendard Black"/>
                <a:ea typeface="Pretendard Black"/>
                <a:cs typeface="Pretendard SemiBold"/>
              </a:rPr>
              <a:t>2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altLang="ko-KR" sz="16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CI / CD </a:t>
            </a:r>
            <a:r>
              <a:rPr lang="ko-KR" altLang="en-US" sz="160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</a:rPr>
              <a:t>란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548640" cy="54864"/>
          </a:xfrm>
          <a:prstGeom prst="rect">
            <a:avLst/>
          </a:prstGeom>
          <a:solidFill>
            <a:srgbClr val="5C4E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0</a:t>
            </a:r>
            <a:r>
              <a:rPr lang="en-US" altLang="ko-KR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2</a:t>
            </a:r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altLang="ko-KR" sz="4200" b="1">
                <a:solidFill>
                  <a:srgbClr val="1B1B1F"/>
                </a:solidFill>
                <a:latin typeface="Pretendard Black"/>
                <a:ea typeface="Pretendard Black"/>
              </a:rPr>
              <a:t>CI / CD</a:t>
            </a:r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CI / CD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의 개념과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</a:rPr>
              <a:t>HCP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Pretendard"/>
              <a:ea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CI / CD</a:t>
            </a:r>
            <a:r>
              <a:rPr lang="en-US" sz="1000">
                <a:solidFill>
                  <a:srgbClr val="5A5A6E"/>
                </a:solidFill>
                <a:latin typeface="Pretendard SemiBold"/>
                <a:ea typeface="Pretendard SemiBold"/>
              </a:rPr>
              <a:t> · </a:t>
            </a:r>
            <a:r>
              <a:rPr lang="en-US" altLang="ko-KR" sz="1000">
                <a:solidFill>
                  <a:srgbClr val="5A5A6E"/>
                </a:solidFill>
                <a:latin typeface="Pretendard SemiBold"/>
                <a:ea typeface="Pretendard SemiBold"/>
              </a:rPr>
              <a:t>HCP</a:t>
            </a:r>
          </a:p>
        </p:txBody>
      </p:sp>
    </p:spTree>
    <p:extLst>
      <p:ext uri="{BB962C8B-B14F-4D97-AF65-F5344CB8AC3E}">
        <p14:creationId xmlns:p14="http://schemas.microsoft.com/office/powerpoint/2010/main" val="3067888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>
                <a:latin typeface="Pretendard Black"/>
                <a:ea typeface="Pretendard Black"/>
              </a:rPr>
              <a:t>CI / CD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CI / CD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 개념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28" name="Shape 15"/>
          <p:cNvSpPr/>
          <p:nvPr/>
        </p:nvSpPr>
        <p:spPr>
          <a:xfrm>
            <a:off x="6139817" y="2273359"/>
            <a:ext cx="4680585" cy="20212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9" name="Shape 16"/>
          <p:cNvSpPr/>
          <p:nvPr/>
        </p:nvSpPr>
        <p:spPr>
          <a:xfrm>
            <a:off x="6139817" y="2273358"/>
            <a:ext cx="4680585" cy="87699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30" name="Text 17"/>
          <p:cNvSpPr/>
          <p:nvPr/>
        </p:nvSpPr>
        <p:spPr>
          <a:xfrm>
            <a:off x="6273262" y="2456239"/>
            <a:ext cx="1174044" cy="3836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2000" b="1" kern="0" spc="200">
                <a:solidFill>
                  <a:srgbClr val="5C4EE5"/>
                </a:solidFill>
                <a:latin typeface="Pretendard Black"/>
                <a:ea typeface="Pretendard Black"/>
              </a:rPr>
              <a:t>CD</a:t>
            </a:r>
          </a:p>
        </p:txBody>
      </p:sp>
      <p:sp>
        <p:nvSpPr>
          <p:cNvPr id="31" name="Text 18"/>
          <p:cNvSpPr/>
          <p:nvPr/>
        </p:nvSpPr>
        <p:spPr>
          <a:xfrm>
            <a:off x="6264748" y="2776279"/>
            <a:ext cx="4555654" cy="548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800" b="1">
                <a:solidFill>
                  <a:srgbClr val="1B1B1F"/>
                </a:solidFill>
                <a:latin typeface="Pretendard Black"/>
                <a:ea typeface="Pretendard Black"/>
              </a:rPr>
              <a:t>지속적 배포</a:t>
            </a:r>
            <a:r>
              <a:rPr lang="en-US" altLang="ko-KR" sz="1500" b="1">
                <a:solidFill>
                  <a:srgbClr val="1B1B1F"/>
                </a:solidFill>
                <a:latin typeface="Pretendard Black"/>
                <a:ea typeface="Pretendard Black"/>
              </a:rPr>
              <a:t>(Continuous Deployment/Delivery)</a:t>
            </a:r>
          </a:p>
        </p:txBody>
      </p:sp>
      <p:sp>
        <p:nvSpPr>
          <p:cNvPr id="32" name="Text 19"/>
          <p:cNvSpPr/>
          <p:nvPr/>
        </p:nvSpPr>
        <p:spPr>
          <a:xfrm>
            <a:off x="6264748" y="3233479"/>
            <a:ext cx="4285261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5A5A6E"/>
                </a:solidFill>
                <a:latin typeface="Pretendard"/>
                <a:ea typeface="Pretendard"/>
              </a:rPr>
              <a:t>코드 변경 사항의 통합</a:t>
            </a:r>
            <a:r>
              <a:rPr lang="en-US" altLang="ko-KR" sz="1200">
                <a:solidFill>
                  <a:srgbClr val="5A5A6E"/>
                </a:solidFill>
                <a:latin typeface="Pretendard"/>
                <a:ea typeface="Pretendard"/>
              </a:rPr>
              <a:t>,</a:t>
            </a:r>
            <a:r>
              <a:rPr lang="ko-KR" altLang="en-US" sz="1200">
                <a:solidFill>
                  <a:srgbClr val="5A5A6E"/>
                </a:solidFill>
                <a:latin typeface="Pretendard"/>
                <a:ea typeface="Pretendard"/>
              </a:rPr>
              <a:t> 테스트</a:t>
            </a:r>
            <a:r>
              <a:rPr lang="en-US" altLang="ko-KR" sz="1200">
                <a:solidFill>
                  <a:srgbClr val="5A5A6E"/>
                </a:solidFill>
                <a:latin typeface="Pretendard"/>
                <a:ea typeface="Pretendard"/>
              </a:rPr>
              <a:t>,</a:t>
            </a:r>
            <a:r>
              <a:rPr lang="ko-KR" altLang="en-US" sz="1200">
                <a:solidFill>
                  <a:srgbClr val="5A5A6E"/>
                </a:solidFill>
                <a:latin typeface="Pretendard"/>
                <a:ea typeface="Pretendard"/>
              </a:rPr>
              <a:t> 제공을 나타내는 프로세스로 두 가지 부분으로 구성된다</a:t>
            </a:r>
            <a:r>
              <a:rPr lang="en-US" altLang="ko-KR" sz="1200">
                <a:solidFill>
                  <a:srgbClr val="5A5A6E"/>
                </a:solidFill>
                <a:latin typeface="Pretendard"/>
                <a:ea typeface="Pretendard"/>
              </a:rPr>
              <a:t>.</a:t>
            </a:r>
          </a:p>
          <a:p>
            <a:pPr marL="0" lvl="0" indent="0">
              <a:buNone/>
              <a:defRPr/>
            </a:pPr>
            <a:endParaRPr lang="en-US" altLang="ko-KR" sz="1200">
              <a:solidFill>
                <a:srgbClr val="5A5A6E"/>
              </a:solidFill>
              <a:latin typeface="Pretendard"/>
              <a:ea typeface="Pretendard"/>
            </a:endParaRPr>
          </a:p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5A5A6E"/>
                </a:solidFill>
                <a:latin typeface="Pretendard"/>
                <a:ea typeface="Pretendard"/>
              </a:rPr>
              <a:t>지속적 제공에는 자동 프로덕션 배포 기능이 없는 반면 지속적 배포는 업데이트를 프로덕션 환경에 자동으로 릴리스한다</a:t>
            </a:r>
            <a:r>
              <a:rPr lang="en-US" altLang="ko-KR" sz="1200">
                <a:solidFill>
                  <a:srgbClr val="5A5A6E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33" name="Shape 15"/>
          <p:cNvSpPr/>
          <p:nvPr/>
        </p:nvSpPr>
        <p:spPr>
          <a:xfrm>
            <a:off x="1223013" y="2273359"/>
            <a:ext cx="4680585" cy="20212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34" name="Shape 16"/>
          <p:cNvSpPr/>
          <p:nvPr/>
        </p:nvSpPr>
        <p:spPr>
          <a:xfrm>
            <a:off x="1223013" y="2273358"/>
            <a:ext cx="4680585" cy="87699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35" name="Text 17"/>
          <p:cNvSpPr/>
          <p:nvPr/>
        </p:nvSpPr>
        <p:spPr>
          <a:xfrm>
            <a:off x="1451613" y="2456239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2000" b="1" kern="0" spc="200">
                <a:solidFill>
                  <a:srgbClr val="5C4EE5"/>
                </a:solidFill>
                <a:latin typeface="Pretendard Black"/>
                <a:ea typeface="Pretendard Black"/>
              </a:rPr>
              <a:t>CI</a:t>
            </a:r>
          </a:p>
        </p:txBody>
      </p:sp>
      <p:sp>
        <p:nvSpPr>
          <p:cNvPr id="36" name="Text 18"/>
          <p:cNvSpPr/>
          <p:nvPr/>
        </p:nvSpPr>
        <p:spPr>
          <a:xfrm>
            <a:off x="1451613" y="2776279"/>
            <a:ext cx="4242435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800" b="1">
                <a:solidFill>
                  <a:srgbClr val="1B1B1F"/>
                </a:solidFill>
                <a:latin typeface="Pretendard Black"/>
                <a:ea typeface="Pretendard Black"/>
              </a:rPr>
              <a:t>지속적 통합</a:t>
            </a:r>
            <a:r>
              <a:rPr lang="en-US" altLang="ko-KR" sz="1500" b="1">
                <a:solidFill>
                  <a:srgbClr val="1B1B1F"/>
                </a:solidFill>
                <a:latin typeface="Pretendard Black"/>
                <a:ea typeface="Pretendard Black"/>
              </a:rPr>
              <a:t>(Continuous Integration)</a:t>
            </a:r>
          </a:p>
        </p:txBody>
      </p:sp>
      <p:sp>
        <p:nvSpPr>
          <p:cNvPr id="37" name="Text 19"/>
          <p:cNvSpPr/>
          <p:nvPr/>
        </p:nvSpPr>
        <p:spPr>
          <a:xfrm>
            <a:off x="1451613" y="3233479"/>
            <a:ext cx="3337560" cy="59816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5A5A6E"/>
                </a:solidFill>
                <a:latin typeface="Pretendard"/>
                <a:ea typeface="Pretendard"/>
              </a:rPr>
              <a:t>코드 변경 사항을 지속적으로 통합하고 검증하는 과정</a:t>
            </a: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63718" y="3427789"/>
            <a:ext cx="0" cy="0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499269" y="4494521"/>
            <a:ext cx="7193461" cy="1766118"/>
          </a:xfrm>
          <a:prstGeom prst="rect">
            <a:avLst/>
          </a:prstGeom>
        </p:spPr>
      </p:pic>
      <p:sp>
        <p:nvSpPr>
          <p:cNvPr id="46" name="Text 10"/>
          <p:cNvSpPr/>
          <p:nvPr/>
        </p:nvSpPr>
        <p:spPr>
          <a:xfrm>
            <a:off x="457200" y="62743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200" kern="0" spc="20">
                <a:solidFill>
                  <a:srgbClr val="808080"/>
                </a:solidFill>
                <a:latin typeface="Pretendard"/>
                <a:ea typeface="Pretendard"/>
                <a:cs typeface="Pretendard Regular"/>
              </a:rPr>
              <a:t>※ 참고 </a:t>
            </a:r>
            <a:r>
              <a:rPr lang="en-US" altLang="ko-KR" sz="1200" kern="0" spc="20">
                <a:solidFill>
                  <a:srgbClr val="808080"/>
                </a:solidFill>
                <a:latin typeface="Pretendard"/>
                <a:ea typeface="Pretendard"/>
                <a:cs typeface="Pretendard Regular"/>
              </a:rPr>
              <a:t>redhat &gt; DevOps &gt; CI/CD</a:t>
            </a:r>
            <a:r>
              <a:rPr lang="ko-KR" altLang="en-US" sz="1200" kern="0" spc="20">
                <a:solidFill>
                  <a:srgbClr val="808080"/>
                </a:solidFill>
                <a:latin typeface="Pretendard"/>
                <a:ea typeface="Pretendard"/>
                <a:cs typeface="Pretendard Regular"/>
              </a:rPr>
              <a:t>란</a:t>
            </a:r>
            <a:r>
              <a:rPr lang="en-US" altLang="ko-KR" sz="1200" kern="0" spc="20">
                <a:solidFill>
                  <a:srgbClr val="808080"/>
                </a:solidFill>
                <a:latin typeface="Pretendard"/>
                <a:ea typeface="Pretendard"/>
                <a:cs typeface="Pretendard Regular"/>
              </a:rPr>
              <a:t>?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FFF758A-D1C9-8153-7030-F3A4EA5845A2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14BA5F-0FF0-5869-A6E2-8B4947A7BD31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75217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>
                <a:latin typeface="Pretendard Black"/>
                <a:ea typeface="Pretendard Black"/>
              </a:rPr>
              <a:t>CI / CD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CI / CD 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효과 및 종류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977390"/>
            <a:ext cx="11247120" cy="1514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977390"/>
            <a:ext cx="73152" cy="1514475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11455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700" b="1">
                <a:solidFill>
                  <a:srgbClr val="4040B2"/>
                </a:solidFill>
                <a:latin typeface="Pretendard Black"/>
                <a:ea typeface="Pretendard Black"/>
                <a:cs typeface="Consolas"/>
              </a:rPr>
              <a:t>CI/CD </a:t>
            </a:r>
            <a:r>
              <a:rPr lang="ko-KR" altLang="en-US" sz="1700" b="1">
                <a:solidFill>
                  <a:srgbClr val="4040B2"/>
                </a:solidFill>
                <a:latin typeface="Pretendard Black"/>
                <a:ea typeface="Pretendard Black"/>
                <a:cs typeface="Consolas"/>
              </a:rPr>
              <a:t>효과</a:t>
            </a:r>
          </a:p>
        </p:txBody>
      </p:sp>
      <p:sp>
        <p:nvSpPr>
          <p:cNvPr id="22" name="Text 20"/>
          <p:cNvSpPr/>
          <p:nvPr/>
        </p:nvSpPr>
        <p:spPr>
          <a:xfrm>
            <a:off x="685800" y="248031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ko-KR" altLang="en-US" sz="1200" b="1">
                <a:solidFill>
                  <a:srgbClr val="1B1B1F"/>
                </a:solidFill>
                <a:latin typeface="Pretendard"/>
                <a:ea typeface="Pretendard"/>
              </a:rPr>
              <a:t>개발 생산성 향상</a:t>
            </a:r>
            <a:r>
              <a:rPr lang="en-US" altLang="ko-KR" sz="1200" b="1">
                <a:solidFill>
                  <a:srgbClr val="1B1B1F"/>
                </a:solidFill>
                <a:latin typeface="Pretendard"/>
                <a:ea typeface="Pretendard"/>
              </a:rPr>
              <a:t>:</a:t>
            </a:r>
            <a:r>
              <a:rPr lang="ko-KR" altLang="en-US" sz="1200">
                <a:solidFill>
                  <a:srgbClr val="1B1B1F"/>
                </a:solidFill>
                <a:latin typeface="Pretendard"/>
                <a:ea typeface="Pretendard"/>
              </a:rPr>
              <a:t> 수동으로 코드를 통합하고 서버에 배포하는 반복적인 작업이 사라진다</a:t>
            </a: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.</a:t>
            </a:r>
          </a:p>
          <a:p>
            <a:pPr marL="0" lvl="0" indent="0">
              <a:buNone/>
              <a:defRPr/>
            </a:pPr>
            <a:endParaRPr lang="en-US" altLang="ko-KR" sz="1200">
              <a:solidFill>
                <a:srgbClr val="1B1B1F"/>
              </a:solidFill>
              <a:latin typeface="Pretendard"/>
              <a:ea typeface="Pretendard"/>
            </a:endParaRPr>
          </a:p>
          <a:p>
            <a:pPr marL="0" lvl="0" indent="0">
              <a:buNone/>
              <a:defRPr/>
            </a:pPr>
            <a:r>
              <a:rPr lang="ko-KR" altLang="en-US" sz="1200" b="1">
                <a:solidFill>
                  <a:srgbClr val="1B1B1F"/>
                </a:solidFill>
                <a:latin typeface="Pretendard"/>
                <a:ea typeface="Pretendard"/>
              </a:rPr>
              <a:t>빠른 문제 해결</a:t>
            </a:r>
            <a:r>
              <a:rPr lang="en-US" altLang="ko-KR" sz="1200" b="1">
                <a:solidFill>
                  <a:srgbClr val="1B1B1F"/>
                </a:solidFill>
                <a:latin typeface="Pretendard"/>
                <a:ea typeface="Pretendard"/>
              </a:rPr>
              <a:t>:</a:t>
            </a:r>
            <a:r>
              <a:rPr lang="ko-KR" altLang="en-US" sz="1200">
                <a:solidFill>
                  <a:srgbClr val="1B1B1F"/>
                </a:solidFill>
                <a:latin typeface="Pretendard"/>
                <a:ea typeface="Pretendard"/>
              </a:rPr>
              <a:t> 문제가 발생했을 때 어떤 코드에서 에러가 났는지 빠르게 파악하고 대응할 수 있다</a:t>
            </a: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.</a:t>
            </a:r>
          </a:p>
          <a:p>
            <a:pPr marL="0" lvl="0" indent="0">
              <a:buNone/>
              <a:defRPr/>
            </a:pPr>
            <a:endParaRPr lang="en-US" altLang="ko-KR" sz="1200">
              <a:solidFill>
                <a:srgbClr val="1B1B1F"/>
              </a:solidFill>
              <a:latin typeface="Pretendard"/>
              <a:ea typeface="Pretendard"/>
            </a:endParaRPr>
          </a:p>
          <a:p>
            <a:pPr marL="0" lvl="0" indent="0">
              <a:buNone/>
              <a:defRPr/>
            </a:pPr>
            <a:r>
              <a:rPr lang="ko-KR" altLang="en-US" sz="1200" b="1">
                <a:solidFill>
                  <a:srgbClr val="1B1B1F"/>
                </a:solidFill>
                <a:latin typeface="Pretendard"/>
                <a:ea typeface="Pretendard"/>
              </a:rPr>
              <a:t>높은 신뢰성</a:t>
            </a:r>
            <a:r>
              <a:rPr lang="en-US" altLang="ko-KR" sz="1200" b="1">
                <a:solidFill>
                  <a:srgbClr val="1B1B1F"/>
                </a:solidFill>
                <a:latin typeface="Pretendard"/>
                <a:ea typeface="Pretendard"/>
              </a:rPr>
              <a:t>:</a:t>
            </a:r>
            <a:r>
              <a:rPr lang="ko-KR" altLang="en-US" sz="1200">
                <a:solidFill>
                  <a:srgbClr val="1B1B1F"/>
                </a:solidFill>
                <a:latin typeface="Pretendard"/>
                <a:ea typeface="Pretendard"/>
              </a:rPr>
              <a:t> 자동화된 테스트를 거쳐 휴먼 에러를 줄이고 안정적인 소프트웨어 버전을 유지할 수 있다</a:t>
            </a: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23" name="Text 21"/>
          <p:cNvSpPr/>
          <p:nvPr/>
        </p:nvSpPr>
        <p:spPr>
          <a:xfrm>
            <a:off x="6858000" y="211455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주요 </a:t>
            </a:r>
            <a:r>
              <a:rPr lang="en-US" altLang="ko-KR" sz="12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CI/CD </a:t>
            </a:r>
            <a:r>
              <a:rPr lang="ko-KR" altLang="en-US" sz="12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도구</a:t>
            </a:r>
          </a:p>
        </p:txBody>
      </p:sp>
      <p:sp>
        <p:nvSpPr>
          <p:cNvPr id="24" name="Text 22"/>
          <p:cNvSpPr/>
          <p:nvPr/>
        </p:nvSpPr>
        <p:spPr>
          <a:xfrm>
            <a:off x="6858000" y="247269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lvl="0" indent="-342900">
              <a:buSzPct val="100000"/>
              <a:buChar char="▪"/>
              <a:defRPr/>
            </a:pPr>
            <a:r>
              <a:rPr lang="en-US" altLang="ko-KR" sz="1100">
                <a:latin typeface="Pretendard"/>
                <a:ea typeface="Pretendard"/>
              </a:rPr>
              <a:t>Github Actions</a:t>
            </a:r>
          </a:p>
          <a:p>
            <a:pPr marL="342900" lvl="0" indent="-342900">
              <a:buSzPct val="100000"/>
              <a:buChar char="▪"/>
              <a:defRPr/>
            </a:pPr>
            <a:r>
              <a:rPr lang="en-US" altLang="ko-KR" sz="1100">
                <a:latin typeface="Pretendard"/>
                <a:ea typeface="Pretendard"/>
              </a:rPr>
              <a:t>GitLab CI/CD</a:t>
            </a:r>
          </a:p>
          <a:p>
            <a:pPr marL="342900" lvl="0" indent="-342900">
              <a:buSzPct val="100000"/>
              <a:buChar char="▪"/>
              <a:defRPr/>
            </a:pPr>
            <a:r>
              <a:rPr lang="en-US" altLang="ko-KR" sz="1100">
                <a:latin typeface="Pretendard"/>
                <a:ea typeface="Pretendard"/>
              </a:rPr>
              <a:t>Jenkins</a:t>
            </a:r>
          </a:p>
          <a:p>
            <a:pPr marL="342900" lvl="0" indent="-342900">
              <a:buSzPct val="100000"/>
              <a:buChar char="▪"/>
              <a:defRPr/>
            </a:pPr>
            <a:r>
              <a:rPr lang="en-US" altLang="ko-KR" sz="1100">
                <a:latin typeface="Pretendard"/>
                <a:ea typeface="Pretendard"/>
              </a:rPr>
              <a:t>CircleCI</a:t>
            </a:r>
          </a:p>
          <a:p>
            <a:pPr marL="342900" lvl="0" indent="-342900">
              <a:buSzPct val="100000"/>
              <a:buChar char="▪"/>
              <a:defRPr/>
            </a:pPr>
            <a:r>
              <a:rPr lang="en-US" altLang="ko-KR" sz="1100">
                <a:latin typeface="Pretendard"/>
                <a:ea typeface="Pretendard"/>
              </a:rPr>
              <a:t>ArgoCD</a:t>
            </a:r>
          </a:p>
        </p:txBody>
      </p:sp>
      <p:sp>
        <p:nvSpPr>
          <p:cNvPr id="46" name="Shape 17"/>
          <p:cNvSpPr/>
          <p:nvPr/>
        </p:nvSpPr>
        <p:spPr>
          <a:xfrm>
            <a:off x="457200" y="3720465"/>
            <a:ext cx="11247120" cy="112661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7" name="Shape 18"/>
          <p:cNvSpPr/>
          <p:nvPr/>
        </p:nvSpPr>
        <p:spPr>
          <a:xfrm>
            <a:off x="457200" y="3720465"/>
            <a:ext cx="73152" cy="1126617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8" name="Text 19"/>
          <p:cNvSpPr/>
          <p:nvPr/>
        </p:nvSpPr>
        <p:spPr>
          <a:xfrm>
            <a:off x="685800" y="385762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700" b="1">
                <a:solidFill>
                  <a:srgbClr val="4040B2"/>
                </a:solidFill>
                <a:latin typeface="Pretendard Black"/>
                <a:ea typeface="Pretendard Black"/>
                <a:cs typeface="Consolas"/>
              </a:rPr>
              <a:t>HCP Terraform 기반 GitOps CD</a:t>
            </a:r>
          </a:p>
        </p:txBody>
      </p:sp>
      <p:sp>
        <p:nvSpPr>
          <p:cNvPr id="49" name="Text 20"/>
          <p:cNvSpPr/>
          <p:nvPr/>
        </p:nvSpPr>
        <p:spPr>
          <a:xfrm>
            <a:off x="685800" y="4223385"/>
            <a:ext cx="5943600" cy="43531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1B1B1F"/>
                </a:solidFill>
                <a:latin typeface="Pretendard"/>
                <a:ea typeface="Pretendard"/>
              </a:rPr>
              <a:t>본 프로젝트에서는 HCP Terraform의 VCS(Version Control System) 연동 기능을 활용해 인프라의 선언적 관리와 자동 배포(GitOps) 체계 구축한다</a:t>
            </a: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50" name="Text 21"/>
          <p:cNvSpPr/>
          <p:nvPr/>
        </p:nvSpPr>
        <p:spPr>
          <a:xfrm>
            <a:off x="6858000" y="385762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2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도입 효과</a:t>
            </a:r>
          </a:p>
        </p:txBody>
      </p:sp>
      <p:sp>
        <p:nvSpPr>
          <p:cNvPr id="51" name="Text 22"/>
          <p:cNvSpPr/>
          <p:nvPr/>
        </p:nvSpPr>
        <p:spPr>
          <a:xfrm>
            <a:off x="6858000" y="4215765"/>
            <a:ext cx="4754880" cy="50333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lvl="0" indent="-342900">
              <a:buSzPct val="100000"/>
              <a:buChar char="▪"/>
              <a:defRPr/>
            </a:pPr>
            <a:r>
              <a:rPr lang="ko-KR" altLang="en-US" sz="1100" b="1">
                <a:latin typeface="Pretendard"/>
                <a:ea typeface="Pretendard"/>
              </a:rPr>
              <a:t>배포 자동화</a:t>
            </a:r>
            <a:r>
              <a:rPr lang="en-US" altLang="ko-KR" sz="1100" b="1">
                <a:latin typeface="Pretendard"/>
                <a:ea typeface="Pretendard"/>
              </a:rPr>
              <a:t>:</a:t>
            </a:r>
            <a:r>
              <a:rPr lang="ko-KR" altLang="en-US" sz="1100">
                <a:latin typeface="Pretendard"/>
                <a:ea typeface="Pretendard"/>
              </a:rPr>
              <a:t> 인프라 자동 업데이터되어 운영 효율성 증대</a:t>
            </a:r>
          </a:p>
          <a:p>
            <a:pPr marL="342900" lvl="0" indent="-342900">
              <a:buSzPct val="100000"/>
              <a:buChar char="▪"/>
              <a:defRPr/>
            </a:pPr>
            <a:r>
              <a:rPr lang="ko-KR" altLang="en-US" sz="1100" b="1">
                <a:latin typeface="Pretendard"/>
                <a:ea typeface="Pretendard"/>
              </a:rPr>
              <a:t>인프라 가시성 및 협업</a:t>
            </a:r>
            <a:r>
              <a:rPr lang="en-US" altLang="ko-KR" sz="1100" b="1">
                <a:latin typeface="Pretendard"/>
                <a:ea typeface="Pretendard"/>
              </a:rPr>
              <a:t>:</a:t>
            </a:r>
            <a:r>
              <a:rPr lang="ko-KR" altLang="en-US" sz="1100">
                <a:latin typeface="Pretendard"/>
                <a:ea typeface="Pretendard"/>
              </a:rPr>
              <a:t> 현재 인프라 상태를 확인하고 변경이력 추적 가능</a:t>
            </a:r>
          </a:p>
          <a:p>
            <a:pPr marL="342900" lvl="0" indent="-342900">
              <a:buSzPct val="100000"/>
              <a:buChar char="▪"/>
              <a:defRPr/>
            </a:pPr>
            <a:r>
              <a:rPr lang="ko-KR" altLang="en-US" sz="1100" b="1">
                <a:latin typeface="Pretendard"/>
                <a:ea typeface="Pretendard"/>
              </a:rPr>
              <a:t>안전성</a:t>
            </a:r>
            <a:r>
              <a:rPr lang="en-US" altLang="ko-KR" sz="1100" b="1">
                <a:latin typeface="Pretendard"/>
                <a:ea typeface="Pretendard"/>
              </a:rPr>
              <a:t>:</a:t>
            </a:r>
            <a:r>
              <a:rPr lang="ko-KR" altLang="en-US" sz="1100" b="0">
                <a:latin typeface="Pretendard"/>
                <a:ea typeface="Pretendard"/>
              </a:rPr>
              <a:t> </a:t>
            </a:r>
            <a:r>
              <a:rPr lang="en-US" altLang="ko-KR" sz="1100" b="0">
                <a:latin typeface="Pretendard"/>
                <a:ea typeface="Pretendard"/>
              </a:rPr>
              <a:t>State</a:t>
            </a:r>
            <a:r>
              <a:rPr lang="ko-KR" altLang="en-US" sz="1100" b="0">
                <a:latin typeface="Pretendard"/>
                <a:ea typeface="Pretendard"/>
              </a:rPr>
              <a:t> 파일 유실 방지 및 충돌 방지</a:t>
            </a: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17818" y="4930902"/>
            <a:ext cx="4756364" cy="187467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67E90238-2D5F-EA3B-05EA-209F10B21456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A4B238-3278-81B9-E180-10C8E59B5646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40241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46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CHAPTER 0</a:t>
            </a:r>
            <a:r>
              <a:rPr lang="en-US" altLang="ko-KR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  /  </a:t>
            </a:r>
            <a:r>
              <a:rPr lang="en-US" altLang="ko-KR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CODE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3200" kern="0" spc="-50">
                <a:latin typeface="Pretendard Black"/>
                <a:ea typeface="Pretendard Black"/>
                <a:cs typeface="Pretendard SemiBold"/>
              </a:rPr>
              <a:t>Chapter 0</a:t>
            </a:r>
            <a:r>
              <a:rPr lang="en-US" altLang="ko-KR" sz="3200" kern="0" spc="-50">
                <a:latin typeface="Pretendard Black"/>
                <a:ea typeface="Pretendard Black"/>
                <a:cs typeface="Pretendard SemiBold"/>
              </a:rPr>
              <a:t>3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altLang="ko-KR" sz="16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Terraform CODE</a:t>
            </a:r>
            <a:r>
              <a:rPr lang="ko-KR" altLang="en-US" sz="16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 </a:t>
            </a:r>
            <a:r>
              <a:rPr lang="en-US" altLang="ko-KR" sz="16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review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548640" cy="54864"/>
          </a:xfrm>
          <a:prstGeom prst="rect">
            <a:avLst/>
          </a:prstGeom>
          <a:solidFill>
            <a:srgbClr val="5C4E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0</a:t>
            </a:r>
            <a:r>
              <a:rPr lang="en-US" altLang="ko-KR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3</a:t>
            </a:r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ko-KR" altLang="en-US" sz="4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600" dirty="0" err="1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본문</a:t>
            </a:r>
            <a:r>
              <a:rPr lang="en-US" sz="1600" dirty="0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600" dirty="0" err="1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</a:t>
            </a:r>
            <a:r>
              <a:rPr lang="en-US" sz="1600" dirty="0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600" dirty="0" err="1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</a:t>
            </a:r>
            <a:r>
              <a:rPr lang="en-US" sz="1600" dirty="0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600" dirty="0" err="1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 kern="0" spc="20" dirty="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Terraform CODE</a:t>
            </a:r>
            <a:r>
              <a:rPr lang="ko-KR" altLang="en-US" sz="1000" kern="0" spc="20" dirty="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 </a:t>
            </a:r>
            <a:r>
              <a:rPr lang="en-US" altLang="ko-KR" sz="1000" kern="0" spc="20" dirty="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review </a:t>
            </a:r>
            <a:r>
              <a:rPr lang="en-US" sz="1000" dirty="0">
                <a:solidFill>
                  <a:srgbClr val="5A5A6E"/>
                </a:solidFill>
                <a:latin typeface="Pretendard SemiBold"/>
                <a:ea typeface="Pretendard SemiBold"/>
              </a:rPr>
              <a:t>· </a:t>
            </a:r>
            <a:r>
              <a:rPr lang="en-US" altLang="ko-KR" sz="1000" kern="0" spc="20" dirty="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*.</a:t>
            </a:r>
            <a:r>
              <a:rPr lang="en-US" altLang="ko-KR" sz="1000" kern="0" spc="20" dirty="0" err="1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tf</a:t>
            </a:r>
            <a:endParaRPr lang="en-US" altLang="ko-KR" sz="1000" dirty="0">
              <a:solidFill>
                <a:srgbClr val="5A5A6E"/>
              </a:solidFill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88219120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5A5A6E"/>
                </a:solidFill>
                <a:latin typeface="Pretendard SemiBold"/>
                <a:ea typeface="Pretendard SemiBold"/>
              </a:rPr>
              <a:t>프로젝트 디렉토리 구조와 파일 역할</a:t>
            </a:r>
            <a:endParaRPr lang="en-US" sz="1300">
              <a:latin typeface="Pretendard SemiBold"/>
              <a:ea typeface="Pretendard Semi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5734957" cy="4023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54864" cy="402336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2776038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200">
                <a:solidFill>
                  <a:srgbClr val="a78bfa"/>
                </a:solidFill>
                <a:latin typeface="Pretendard Black"/>
                <a:ea typeface="Pretendard Black"/>
              </a:rPr>
              <a:t>DIRECTORY STRUCTURE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5552077" cy="35204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project/</a:t>
            </a:r>
            <a:endParaRPr lang="en-US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proveider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.tf          #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terrform</a:t>
            </a:r>
            <a:r>
              <a:rPr lang="ko-KR" alt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lang="ko-KR" alt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provider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vpc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.tf    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#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vpc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subnet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.tf      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subnet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igw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.tf    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Internet GateWay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ngw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.tf      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NAT Gateway &amp; EIP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rt.tf</a:t>
            </a: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ko-KR" alt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  # Routing Table &amp; Routing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 security_group.tf     # Security Group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key_pair.tf           # Key Pair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ec2.tf                # Bastion Instance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rds.tf                </a:t>
            </a:r>
            <a:r>
              <a:rPr lang="en-US" altLang="ko-KR" sz="12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# Subnet Group &amp; Prameter Group &amp; RDS</a:t>
            </a:r>
            <a:endParaRPr lang="en-US" altLang="ko-KR" sz="12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s3.tf                 # S3 Bucket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acm.tf                # ACM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route53.tf            # Route53 Zone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alb.tf                # Target Group &amp; Listener &amp; ALB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└── </a:t>
            </a:r>
            <a:r>
              <a:rPr lang="en-US" altLang="ko-KR" sz="1300">
                <a:solidFill>
                  <a:srgbClr val="e4e4e7"/>
                </a:solidFill>
                <a:latin typeface="Consolas"/>
                <a:ea typeface="Consolas"/>
                <a:cs typeface="Consolas"/>
              </a:rPr>
              <a:t>auto_scaling.tf       # Launch Template &amp; Auto Scaling</a:t>
            </a:r>
            <a:endParaRPr lang="en-US" altLang="ko-KR" sz="1300">
              <a:solidFill>
                <a:srgbClr val="e4e4e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F41A2E0E-CFD0-C77F-BB19-DB7A69975928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55D57440-9909-FD84-2B45-52AA1A32C756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20173" y="1939793"/>
            <a:ext cx="5815299" cy="41866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provider.tf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provider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Terraform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환경 및 </a:t>
            </a: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AWS Provider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설정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-10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전체 프로젝트의 실행 환경 정의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,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테라폼 버전 정의</a:t>
              </a:r>
              <a:b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</a:b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AWS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프로바이더의 소스와 버전 명시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12-14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실제 리소스가 생성 될 클라우드 플랫폼 지정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배포 대상이 될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Region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설정</a:t>
              </a:r>
            </a:p>
          </p:txBody>
        </p:sp>
      </p:grp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57442" y="2829306"/>
            <a:ext cx="6141335" cy="340622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873DB6D-4225-19AC-2173-B867368C22D8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993EDD-3CD2-739F-BFE2-4897E9040977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vpc.tf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vpc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VPC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가상 네트워크 생성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CIDR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대역 할당</a:t>
              </a:r>
              <a:b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</a:b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DNS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기능 활성화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: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자원이 도메인 주소를 통해 통신</a:t>
              </a:r>
              <a:b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</a:b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식별을 위해 태그 지정</a:t>
              </a:r>
            </a:p>
          </p:txBody>
        </p:sp>
      </p:grp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9286" y="3229235"/>
            <a:ext cx="5377646" cy="2319769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8E6AEEE6-30B5-3815-99B4-C855B8A3D33C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756333-CBDF-37C5-5279-ACFE6AE939B5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5152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subnet.tf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subnet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퍼블릭 서브넷 구성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1–3</a:t>
              </a:r>
              <a:endParaRPr lang="en-US" sz="11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가용영역에 분산된 퍼블릭 네트워크 생성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외부 통신을 위해 공인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IP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자동 할당 설정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전용 태그를 통해 클러스터 서비스 환경 준비</a:t>
              </a:r>
            </a:p>
          </p:txBody>
        </p:sp>
      </p:grp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5066" y="2383078"/>
            <a:ext cx="5486086" cy="401208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FE3AD08-941E-D897-B590-910D7CF504B0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CA74DF-5EDE-8339-CD65-8EE944B01CAF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40596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subnet.tf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subnet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프라이빗 서브넷 구성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27</a:t>
              </a: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–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47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외부 직접 접근이 차단된 독립적인 내부 네트워크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내부 태그 설정을 통한 서비스 간 통신 지원</a:t>
              </a:r>
            </a:p>
          </p:txBody>
        </p:sp>
      </p:grpSp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03500" y="2379064"/>
            <a:ext cx="6049219" cy="402011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59F1DFF-7CE4-3DB6-0051-1D371368DEBB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6FEBCC-7AF4-60E3-2C7C-C35EA5F390AF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06270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igw.tf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igw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Internet Gateway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리소스 생성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VPC와 인터넷 간 양방향 통신 관문 구축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퍼블릭 자원의 인터넷 접속 권한 활성화</a:t>
              </a:r>
            </a:p>
          </p:txBody>
        </p:sp>
      </p:grp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07153" y="3366917"/>
            <a:ext cx="5641912" cy="158720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59C86A0-CE1C-B811-F1C9-E298691CA36B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C95C7C-1A55-4CEC-D304-0939EB85D955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81540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ngw.tf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ngw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EIP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및 </a:t>
            </a: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NAT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게이트웨이 구성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–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NAT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게이트웨이용 고정 공인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IP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확보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재시작 시에도 변하지 않는 고정 주소 할당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</a:t>
              </a: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–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프라이빗 자원의 일방향 인터넷 접속 지원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내부 보안을 유지하며 외부 패치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,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업데이트 허용</a:t>
              </a:r>
            </a:p>
          </p:txBody>
        </p:sp>
      </p:grpSp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80290" y="2904361"/>
            <a:ext cx="4695639" cy="251231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8DE547C5-0E7D-365C-0299-C29C2AC2AC3A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BC43AC-61F5-4DB6-CB01-4670545E5F5F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41892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rt.tf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rt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퍼블릭</a:t>
            </a: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/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프라이빗 라우팅 테이블 구성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2–8</a:t>
              </a:r>
              <a:endParaRPr lang="en-US" sz="11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latin typeface="Pretendard"/>
                  <a:ea typeface="Pretendard"/>
                </a:rPr>
                <a:t>퍼블릭</a:t>
              </a:r>
              <a:r>
                <a:rPr lang="ko-KR" altLang="en-US" sz="1200">
                  <a:latin typeface="Pretendard"/>
                  <a:ea typeface="Pretendard"/>
                </a:rPr>
                <a:t> 라우팅 테이블 </a:t>
              </a:r>
              <a:r>
                <a:rPr lang="en-US" altLang="ko-KR" sz="1200">
                  <a:latin typeface="Pretendard"/>
                  <a:ea typeface="Pretendard"/>
                </a:rPr>
                <a:t>- </a:t>
              </a:r>
              <a:r>
                <a:rPr lang="en-US" sz="1200">
                  <a:latin typeface="Pretendard"/>
                  <a:ea typeface="Pretendard"/>
                </a:rPr>
                <a:t> v</a:t>
              </a:r>
              <a:r>
                <a:rPr lang="en-US" altLang="ko-KR" sz="1200">
                  <a:latin typeface="Pretendard"/>
                  <a:ea typeface="Pretendard"/>
                </a:rPr>
                <a:t>pc </a:t>
              </a:r>
              <a:r>
                <a:rPr lang="ko-KR" altLang="en-US" sz="1200">
                  <a:latin typeface="Pretendard"/>
                  <a:ea typeface="Pretendard"/>
                </a:rPr>
                <a:t>연결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리소스를 쉽게 식별할 수 있도록 태그</a:t>
              </a:r>
              <a:r>
                <a:rPr lang="ko-KR" altLang="en-US" sz="1200" b="1">
                  <a:latin typeface="Pretendard"/>
                  <a:ea typeface="Pretendard"/>
                </a:rPr>
                <a:t> </a:t>
              </a:r>
              <a:r>
                <a:rPr lang="ko-KR" altLang="en-US" sz="1200">
                  <a:latin typeface="Pretendard"/>
                  <a:ea typeface="Pretendard"/>
                </a:rPr>
                <a:t>부여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10–16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latin typeface="Pretendard"/>
                  <a:ea typeface="Pretendard"/>
                </a:rPr>
                <a:t>프라이빗</a:t>
              </a:r>
              <a:r>
                <a:rPr lang="ko-KR" altLang="en-US" sz="1200">
                  <a:latin typeface="Pretendard"/>
                  <a:ea typeface="Pretendard"/>
                </a:rPr>
                <a:t> 라우팅 테이블 </a:t>
              </a:r>
              <a:r>
                <a:rPr lang="en-US" altLang="ko-KR" sz="1200">
                  <a:latin typeface="Pretendard"/>
                  <a:ea typeface="Pretendard"/>
                </a:rPr>
                <a:t>-  vpc </a:t>
              </a:r>
              <a:r>
                <a:rPr lang="ko-KR" altLang="en-US" sz="1200">
                  <a:latin typeface="Pretendard"/>
                  <a:ea typeface="Pretendard"/>
                </a:rPr>
                <a:t>연결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리소스를 쉽게 식별할 수 있도록 태그 부여</a:t>
              </a:r>
              <a:endParaRPr lang="en-US" altLang="ko-KR" sz="1200">
                <a:latin typeface="Pretendard"/>
                <a:ea typeface="Pretendard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20–24</a:t>
              </a:r>
              <a:endParaRPr lang="en-US" sz="11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latin typeface="Pretendard"/>
                  <a:ea typeface="Pretendard"/>
                </a:rPr>
                <a:t>퍼블릭</a:t>
              </a:r>
              <a:r>
                <a:rPr lang="ko-KR" altLang="en-US" sz="1200">
                  <a:latin typeface="Pretendard"/>
                  <a:ea typeface="Pretendard"/>
                </a:rPr>
                <a:t> 라우팅 테이블에 라우팅 규칙 추가</a:t>
              </a:r>
              <a:endParaRPr lang="en-US" altLang="ko-KR" sz="1200"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모든 </a:t>
              </a:r>
              <a:r>
                <a:rPr lang="en-US" altLang="ko-KR" sz="1200">
                  <a:latin typeface="Pretendard"/>
                  <a:ea typeface="Pretendard"/>
                </a:rPr>
                <a:t>IP </a:t>
              </a:r>
              <a:r>
                <a:rPr lang="ko-KR" altLang="en-US" sz="1200">
                  <a:latin typeface="Pretendard"/>
                  <a:ea typeface="Pretendard"/>
                </a:rPr>
                <a:t>주소로 목적지 주소 정의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목적지 주소를 인터넷 게이트웨이로 보내도록 설정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73340" y="3703320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26-30</a:t>
              </a:r>
              <a:endParaRPr lang="en-US" sz="1100"/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latin typeface="Pretendard"/>
                  <a:ea typeface="Pretendard"/>
                </a:rPr>
                <a:t>프라이빗 </a:t>
              </a:r>
              <a:r>
                <a:rPr lang="ko-KR" altLang="en-US" sz="1200">
                  <a:latin typeface="Pretendard"/>
                  <a:ea typeface="Pretendard"/>
                </a:rPr>
                <a:t>라우팅 테이블에 라우팅 규칙 추가</a:t>
              </a:r>
              <a:endParaRPr lang="en-US" altLang="ko-KR" sz="1200"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모든 </a:t>
              </a:r>
              <a:r>
                <a:rPr lang="en-US" altLang="ko-KR" sz="1200">
                  <a:latin typeface="Pretendard"/>
                  <a:ea typeface="Pretendard"/>
                </a:rPr>
                <a:t>IP</a:t>
              </a:r>
              <a:r>
                <a:rPr lang="ko-KR" altLang="en-US" sz="1200">
                  <a:latin typeface="Pretendard"/>
                  <a:ea typeface="Pretendard"/>
                </a:rPr>
                <a:t>주소로 목적지 주소 정의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목적지 주소를 </a:t>
              </a:r>
              <a:r>
                <a:rPr lang="en-US" altLang="ko-KR" sz="1200">
                  <a:latin typeface="Pretendard"/>
                  <a:ea typeface="Pretendard"/>
                </a:rPr>
                <a:t>NAT </a:t>
              </a:r>
              <a:r>
                <a:rPr lang="ko-KR" altLang="en-US" sz="1200">
                  <a:latin typeface="Pretendard"/>
                  <a:ea typeface="Pretendard"/>
                </a:rPr>
                <a:t>게이트웨이로 보내도록 설정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673340" y="4732020"/>
            <a:ext cx="4030979" cy="914400"/>
            <a:chOff x="6492240" y="5532120"/>
            <a:chExt cx="5212080" cy="914400"/>
          </a:xfrm>
        </p:grpSpPr>
        <p:sp>
          <p:nvSpPr>
            <p:cNvPr id="48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0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1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34-42</a:t>
              </a:r>
              <a:endParaRPr lang="en-US" sz="1100"/>
            </a:p>
          </p:txBody>
        </p:sp>
        <p:sp>
          <p:nvSpPr>
            <p:cNvPr id="52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latin typeface="Pretendard"/>
                  <a:ea typeface="Pretendard"/>
                </a:rPr>
                <a:t>퍼블릭 </a:t>
              </a:r>
              <a:r>
                <a:rPr lang="ko-KR" altLang="en-US" sz="1200">
                  <a:latin typeface="Pretendard"/>
                  <a:ea typeface="Pretendard"/>
                </a:rPr>
                <a:t>라우팅 테이블과 서브넷을 맵핑</a:t>
              </a:r>
              <a:endParaRPr lang="en-US" altLang="ko-KR" sz="1200"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가용영역 </a:t>
              </a:r>
              <a:r>
                <a:rPr lang="en-US" altLang="ko-KR" sz="1200">
                  <a:latin typeface="Pretendard"/>
                  <a:ea typeface="Pretendard"/>
                </a:rPr>
                <a:t>2a,2c</a:t>
              </a:r>
              <a:r>
                <a:rPr lang="ko-KR" altLang="en-US" sz="1200">
                  <a:latin typeface="Pretendard"/>
                  <a:ea typeface="Pretendard"/>
                </a:rPr>
                <a:t>의 퍼블릭 서브넷에 규칙을 적용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퍼블릭 서브넷에 라우팅 테이블 적용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673340" y="5760720"/>
            <a:ext cx="4030979" cy="914400"/>
            <a:chOff x="6492240" y="5532120"/>
            <a:chExt cx="5212080" cy="914400"/>
          </a:xfrm>
        </p:grpSpPr>
        <p:sp>
          <p:nvSpPr>
            <p:cNvPr id="54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55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6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7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44-52</a:t>
              </a:r>
              <a:endParaRPr lang="en-US" sz="1100"/>
            </a:p>
          </p:txBody>
        </p:sp>
        <p:sp>
          <p:nvSpPr>
            <p:cNvPr id="58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latin typeface="Pretendard"/>
                  <a:ea typeface="Pretendard"/>
                </a:rPr>
                <a:t>프라이빗 </a:t>
              </a:r>
              <a:r>
                <a:rPr lang="ko-KR" altLang="en-US" sz="1200">
                  <a:latin typeface="Pretendard"/>
                  <a:ea typeface="Pretendard"/>
                </a:rPr>
                <a:t>라우팅 테이블과 서브넷을 맵핑</a:t>
              </a:r>
              <a:endParaRPr lang="en-US" altLang="ko-KR" sz="1200"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가용영역 </a:t>
              </a:r>
              <a:r>
                <a:rPr lang="en-US" altLang="ko-KR" sz="1200">
                  <a:latin typeface="Pretendard"/>
                  <a:ea typeface="Pretendard"/>
                </a:rPr>
                <a:t>2a,2c</a:t>
              </a:r>
              <a:r>
                <a:rPr lang="ko-KR" altLang="en-US" sz="1200">
                  <a:latin typeface="Pretendard"/>
                  <a:ea typeface="Pretendard"/>
                </a:rPr>
                <a:t>의 프라이빗 서브넷에 규칙을 적용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프라이빗 서브넷에 라우팅 테이블 적용</a:t>
              </a:r>
              <a:endParaRPr lang="en-US" altLang="ko-KR" sz="1200">
                <a:latin typeface="Pretendard"/>
                <a:ea typeface="Pretendard"/>
              </a:endParaRPr>
            </a:p>
          </p:txBody>
        </p:sp>
      </p:grp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4989" y="2433638"/>
            <a:ext cx="2550539" cy="1879663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81022" y="2462213"/>
            <a:ext cx="3670049" cy="1530858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481022" y="4105491"/>
            <a:ext cx="3670048" cy="227364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13E91A6-D8C3-AFC0-4BA1-E8AB0931735A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BF1380-9C4E-1E2F-544E-82594AF6C26A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048122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security_group.tf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BASTION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보안 그룹 설정</a:t>
            </a:r>
            <a:endParaRPr lang="en-US" sz="1100"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1–8</a:t>
              </a:r>
              <a:endParaRPr lang="en-US" sz="11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배스천 보안 그룹 </a:t>
              </a:r>
              <a:r>
                <a:rPr lang="en-US" altLang="ko-KR" sz="1200">
                  <a:latin typeface="Pretendard"/>
                  <a:ea typeface="Pretendard"/>
                </a:rPr>
                <a:t>– vpc </a:t>
              </a:r>
              <a:r>
                <a:rPr lang="ko-KR" altLang="en-US" sz="1200">
                  <a:latin typeface="Pretendard"/>
                  <a:ea typeface="Pretendard"/>
                </a:rPr>
                <a:t>연결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쉽게 식별할 수 있도록 태그 부여</a:t>
              </a:r>
              <a:endParaRPr lang="en-US" altLang="ko-KR" sz="1200">
                <a:latin typeface="Pretendard"/>
                <a:ea typeface="Pretendard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10–48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인바운드 규칙</a:t>
              </a:r>
              <a:r>
                <a:rPr lang="en-US" altLang="ko-KR" sz="1200">
                  <a:latin typeface="Pretendard"/>
                  <a:ea typeface="Pretendard"/>
                </a:rPr>
                <a:t>(ingress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latin typeface="Pretendard"/>
                  <a:ea typeface="Pretendard"/>
                </a:rPr>
                <a:t>icmp </a:t>
              </a:r>
              <a:r>
                <a:rPr lang="ko-KR" altLang="en-US" sz="1200">
                  <a:latin typeface="Pretendard"/>
                  <a:ea typeface="Pretendard"/>
                </a:rPr>
                <a:t>허용</a:t>
              </a:r>
            </a:p>
            <a:p>
              <a:pPr marL="0" lvl="0" indent="0">
                <a:buNone/>
                <a:defRPr/>
              </a:pPr>
              <a:r>
                <a:rPr lang="en-US" sz="1200">
                  <a:latin typeface="Pretendard"/>
                  <a:ea typeface="Pretendard"/>
                </a:rPr>
                <a:t>22, 80, 443, 3306 </a:t>
              </a:r>
              <a:r>
                <a:rPr lang="ko-KR" altLang="en-US" sz="1200">
                  <a:latin typeface="Pretendard"/>
                  <a:ea typeface="Pretendard"/>
                </a:rPr>
                <a:t>포트 허용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50–56</a:t>
              </a:r>
              <a:endParaRPr lang="en-US" sz="11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아웃바운드 규칙</a:t>
              </a:r>
              <a:r>
                <a:rPr lang="en-US" altLang="ko-KR" sz="1200">
                  <a:latin typeface="Pretendard"/>
                  <a:ea typeface="Pretendard"/>
                </a:rPr>
                <a:t>(egress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모든 포트 허용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sp>
        <p:nvSpPr>
          <p:cNvPr id="2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security_group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80989" y="2728722"/>
            <a:ext cx="2400300" cy="36004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64870" y="2728722"/>
            <a:ext cx="2757417" cy="360045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195B8C2D-2DCB-D67D-D55C-BDFE22DCEEDC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ED8B620-1F87-EB8E-1654-F98A551755C8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6314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security_group.tf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security_group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ALB, EKS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보안 그룹 설정</a:t>
            </a:r>
            <a:endParaRPr lang="en-US" sz="1100"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59–61</a:t>
              </a:r>
              <a:endParaRPr lang="en-US" sz="11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ALB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보안 그룹 이름 설정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ALB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보안 그룹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– vpc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연결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63–77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인바운드 규칙</a:t>
              </a:r>
              <a:r>
                <a:rPr lang="en-US" altLang="ko-KR" sz="1200">
                  <a:latin typeface="Pretendard"/>
                  <a:ea typeface="Pretendard"/>
                </a:rPr>
                <a:t>(ingress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</a:p>
            <a:p>
              <a:pPr marL="0" lvl="0" indent="0">
                <a:buNone/>
                <a:defRPr/>
              </a:pPr>
              <a:r>
                <a:rPr lang="en-US" sz="1200">
                  <a:latin typeface="Pretendard"/>
                  <a:ea typeface="Pretendard"/>
                </a:rPr>
                <a:t>80, 443 </a:t>
              </a:r>
              <a:r>
                <a:rPr lang="ko-KR" altLang="en-US" sz="1200">
                  <a:latin typeface="Pretendard"/>
                  <a:ea typeface="Pretendard"/>
                </a:rPr>
                <a:t>포트</a:t>
              </a:r>
              <a:r>
                <a:rPr lang="en-US" sz="1200">
                  <a:latin typeface="Pretendard"/>
                  <a:ea typeface="Pretendard"/>
                </a:rPr>
                <a:t> </a:t>
              </a:r>
              <a:r>
                <a:rPr lang="ko-KR" altLang="en-US" sz="1200">
                  <a:latin typeface="Pretendard"/>
                  <a:ea typeface="Pretendard"/>
                </a:rPr>
                <a:t>허용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79–85</a:t>
              </a:r>
              <a:endParaRPr lang="en-US" sz="11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아웃바운드 규칙</a:t>
              </a:r>
              <a:r>
                <a:rPr lang="en-US" altLang="ko-KR" sz="1200">
                  <a:latin typeface="Pretendard"/>
                  <a:ea typeface="Pretendard"/>
                </a:rPr>
                <a:t>(egress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모든 포트 허용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73340" y="3703320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88-90</a:t>
              </a:r>
              <a:endParaRPr lang="en-US" sz="1100"/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1200">
                  <a:latin typeface="Pretendard"/>
                  <a:ea typeface="Pretendard"/>
                </a:rPr>
                <a:t>EKS </a:t>
              </a:r>
              <a:r>
                <a:rPr lang="ko-KR" altLang="en-US" sz="1200">
                  <a:latin typeface="Pretendard"/>
                  <a:ea typeface="Pretendard"/>
                </a:rPr>
                <a:t>보안 그룹 이름 설정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latin typeface="Pretendard"/>
                  <a:ea typeface="Pretendard"/>
                </a:rPr>
                <a:t>EKS </a:t>
              </a:r>
              <a:r>
                <a:rPr lang="ko-KR" altLang="en-US" sz="1200">
                  <a:latin typeface="Pretendard"/>
                  <a:ea typeface="Pretendard"/>
                </a:rPr>
                <a:t>보안 그룹 </a:t>
              </a:r>
              <a:r>
                <a:rPr lang="en-US" altLang="ko-KR" sz="1200">
                  <a:latin typeface="Pretendard"/>
                  <a:ea typeface="Pretendard"/>
                </a:rPr>
                <a:t>– vpc</a:t>
              </a:r>
              <a:r>
                <a:rPr lang="ko-KR" altLang="en-US" sz="1200">
                  <a:latin typeface="Pretendard"/>
                  <a:ea typeface="Pretendard"/>
                </a:rPr>
                <a:t> 연결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673340" y="4732020"/>
            <a:ext cx="4030979" cy="914400"/>
            <a:chOff x="6492240" y="5532120"/>
            <a:chExt cx="5212080" cy="914400"/>
          </a:xfrm>
        </p:grpSpPr>
        <p:sp>
          <p:nvSpPr>
            <p:cNvPr id="48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0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1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92-122</a:t>
              </a:r>
              <a:endParaRPr lang="en-US" sz="1100"/>
            </a:p>
          </p:txBody>
        </p:sp>
        <p:sp>
          <p:nvSpPr>
            <p:cNvPr id="52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인바운드 규칙</a:t>
              </a:r>
              <a:r>
                <a:rPr lang="en-US" altLang="ko-KR" sz="1200">
                  <a:latin typeface="Pretendard"/>
                  <a:ea typeface="Pretendard"/>
                </a:rPr>
                <a:t>(ingress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latin typeface="Pretendard"/>
                  <a:ea typeface="Pretendard"/>
                </a:rPr>
                <a:t>icmp </a:t>
              </a:r>
              <a:r>
                <a:rPr lang="ko-KR" altLang="en-US" sz="1200">
                  <a:latin typeface="Pretendard"/>
                  <a:ea typeface="Pretendard"/>
                </a:rPr>
                <a:t>허용</a:t>
              </a:r>
            </a:p>
            <a:p>
              <a:pPr marL="0" lvl="0" indent="0">
                <a:buNone/>
                <a:defRPr/>
              </a:pPr>
              <a:r>
                <a:rPr lang="en-US" sz="1200">
                  <a:latin typeface="Pretendard"/>
                  <a:ea typeface="Pretendard"/>
                </a:rPr>
                <a:t>22, 80 </a:t>
              </a:r>
              <a:r>
                <a:rPr lang="ko-KR" altLang="en-US" sz="1200">
                  <a:latin typeface="Pretendard"/>
                  <a:ea typeface="Pretendard"/>
                </a:rPr>
                <a:t>포트 허용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2234" y="2728722"/>
            <a:ext cx="2928724" cy="3600450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188381" y="2697480"/>
            <a:ext cx="2781689" cy="360045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827AD92-6E63-BBE4-1140-3A47F55C0415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9A1FFE-D5C2-86C7-469F-F86F351584B8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45593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security_group.tf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security_group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RDS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보안 그룹 설정</a:t>
            </a:r>
            <a:endParaRPr lang="en-US" sz="1100"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124–130</a:t>
              </a:r>
              <a:endParaRPr lang="en-US" sz="10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latin typeface="Pretendard"/>
                  <a:ea typeface="Pretendard"/>
                </a:rPr>
                <a:t>[EKS </a:t>
              </a:r>
              <a:r>
                <a:rPr lang="ko-KR" altLang="en-US" sz="1200" b="1">
                  <a:latin typeface="Pretendard"/>
                  <a:ea typeface="Pretendard"/>
                </a:rPr>
                <a:t>보안 그룹</a:t>
              </a:r>
              <a:r>
                <a:rPr lang="en-US" altLang="ko-KR" sz="1200" b="1">
                  <a:latin typeface="Pretendard"/>
                  <a:ea typeface="Pretendard"/>
                </a:rPr>
                <a:t>]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아웃 바운드 규칙</a:t>
              </a:r>
              <a:r>
                <a:rPr lang="en-US" altLang="ko-KR" sz="1200">
                  <a:latin typeface="Pretendard"/>
                  <a:ea typeface="Pretendard"/>
                </a:rPr>
                <a:t>(egress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  <a:endParaRPr lang="en-US" altLang="ko-KR" sz="1200" b="1"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모든 포트 허용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133–135</a:t>
              </a:r>
              <a:endParaRPr lang="en-US" sz="10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1200">
                  <a:latin typeface="Pretendard"/>
                  <a:ea typeface="Pretendard"/>
                </a:rPr>
                <a:t>RDS </a:t>
              </a:r>
              <a:r>
                <a:rPr lang="ko-KR" altLang="en-US" sz="1200">
                  <a:latin typeface="Pretendard"/>
                  <a:ea typeface="Pretendard"/>
                </a:rPr>
                <a:t>보안 그룹 이름 설정</a:t>
              </a:r>
            </a:p>
            <a:p>
              <a:pPr marL="0" lvl="0" indent="0">
                <a:buNone/>
                <a:defRPr/>
              </a:pPr>
              <a:r>
                <a:rPr lang="en-US" sz="1200">
                  <a:latin typeface="Pretendard"/>
                  <a:ea typeface="Pretendard"/>
                </a:rPr>
                <a:t>RDS </a:t>
              </a:r>
              <a:r>
                <a:rPr lang="ko-KR" altLang="en-US" sz="1200">
                  <a:latin typeface="Pretendard"/>
                  <a:ea typeface="Pretendard"/>
                </a:rPr>
                <a:t>보안 그룹 </a:t>
              </a:r>
              <a:r>
                <a:rPr lang="en-US" altLang="ko-KR" sz="1200">
                  <a:latin typeface="Pretendard"/>
                  <a:ea typeface="Pretendard"/>
                </a:rPr>
                <a:t>– vpc</a:t>
              </a:r>
              <a:r>
                <a:rPr lang="ko-KR" altLang="en-US" sz="1200">
                  <a:latin typeface="Pretendard"/>
                  <a:ea typeface="Pretendard"/>
                </a:rPr>
                <a:t> 연결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137–143</a:t>
              </a:r>
              <a:endParaRPr lang="en-US" sz="10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인바운드 규칙</a:t>
              </a:r>
              <a:r>
                <a:rPr lang="en-US" altLang="ko-KR" sz="1200">
                  <a:latin typeface="Pretendard"/>
                  <a:ea typeface="Pretendard"/>
                </a:rPr>
                <a:t>(ingress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</a:p>
            <a:p>
              <a:pPr marL="0" lvl="0" indent="0">
                <a:buNone/>
                <a:defRPr/>
              </a:pPr>
              <a:r>
                <a:rPr lang="en-US" sz="1200">
                  <a:latin typeface="Pretendard"/>
                  <a:ea typeface="Pretendard"/>
                </a:rPr>
                <a:t>3306 </a:t>
              </a:r>
              <a:r>
                <a:rPr lang="ko-KR" altLang="en-US" sz="1200">
                  <a:latin typeface="Pretendard"/>
                  <a:ea typeface="Pretendard"/>
                </a:rPr>
                <a:t>포트 허용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73340" y="3703320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145-151</a:t>
              </a:r>
              <a:endParaRPr lang="en-US" sz="1000"/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아웃바운드 규칙</a:t>
              </a:r>
              <a:r>
                <a:rPr lang="en-US" altLang="ko-KR" sz="1200">
                  <a:latin typeface="Pretendard"/>
                  <a:ea typeface="Pretendard"/>
                </a:rPr>
                <a:t>(egress </a:t>
              </a:r>
              <a:r>
                <a:rPr lang="ko-KR" altLang="en-US" sz="1200">
                  <a:latin typeface="Pretendard"/>
                  <a:ea typeface="Pretendard"/>
                </a:rPr>
                <a:t>블록</a:t>
              </a:r>
              <a:r>
                <a:rPr lang="en-US" altLang="ko-KR" sz="1200">
                  <a:latin typeface="Pretendard"/>
                  <a:ea typeface="Pretendard"/>
                </a:rPr>
                <a:t>)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모든 포트 허용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33520" y="2532888"/>
            <a:ext cx="2989179" cy="360045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4FB4AA8-7D49-BEC2-FF8F-616A9D8BEEC5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EC89F6-C61D-283E-7BB1-4D7D374C15DB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02906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key_pair.tf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key_pair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SSH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키 페어 자동 생성 및 관리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RSA 2048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비트 알고리즘을 사용하여 키 생성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4–8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생성된 공개키를 </a:t>
              </a:r>
              <a:r>
                <a:rPr lang="en-US" altLang="ko-KR" sz="1200">
                  <a:latin typeface="Pretendard"/>
                  <a:ea typeface="Pretendard"/>
                </a:rPr>
                <a:t>AWS</a:t>
              </a:r>
              <a:r>
                <a:rPr lang="ko-KR" altLang="en-US" sz="1200">
                  <a:latin typeface="Pretendard"/>
                  <a:ea typeface="Pretendard"/>
                </a:rPr>
                <a:t> 서버에 등록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10–15</a:t>
              </a:r>
              <a:endParaRPr lang="en-US" sz="11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생성된 개인키를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.pem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파일로 로컬에 저장</a:t>
              </a:r>
            </a:p>
          </p:txBody>
        </p:sp>
      </p:grp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32212" y="2892753"/>
            <a:ext cx="4991796" cy="2572108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FB2C1483-5FE1-D91F-A510-8AB758986859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CE334A-6D76-C137-7996-7D05BCD152CB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47684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ec2.tf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ec2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Bastion Host 인스턴스 구성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2-3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AMI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ID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를 통한 이미지 지정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인스턴스 타입 지정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4-5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보안 그룹 적용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</a:rPr>
                <a:t>퍼블릭 서브넷 배치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6-7</a:t>
              </a:r>
              <a:endPara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외부 접속용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SSH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키 설정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인터넷 통신용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IP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자동 할당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73340" y="3703320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9-11</a:t>
              </a:r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루트 볼륨 용량 및 타입 설정</a:t>
              </a: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673340" y="4732020"/>
            <a:ext cx="4030979" cy="914400"/>
            <a:chOff x="6492240" y="5532120"/>
            <a:chExt cx="5212080" cy="914400"/>
          </a:xfrm>
        </p:grpSpPr>
        <p:sp>
          <p:nvSpPr>
            <p:cNvPr id="48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0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1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12-14</a:t>
              </a:r>
            </a:p>
          </p:txBody>
        </p:sp>
        <p:sp>
          <p:nvSpPr>
            <p:cNvPr id="52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볼륨을 위한 태그 지정</a:t>
              </a: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673340" y="5760720"/>
            <a:ext cx="4030979" cy="914400"/>
            <a:chOff x="6492240" y="5532120"/>
            <a:chExt cx="5212080" cy="914400"/>
          </a:xfrm>
        </p:grpSpPr>
        <p:sp>
          <p:nvSpPr>
            <p:cNvPr id="54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55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6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7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17-20</a:t>
              </a:r>
            </a:p>
          </p:txBody>
        </p:sp>
        <p:sp>
          <p:nvSpPr>
            <p:cNvPr id="58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인스턴스 태그 지정</a:t>
              </a:r>
            </a:p>
          </p:txBody>
        </p:sp>
      </p:grp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8737" y="2532888"/>
            <a:ext cx="6058745" cy="364858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E27A9A6-3696-EAFF-F036-D2C83D9330A2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8A5B59-F6FD-A160-1D45-F1D2FBFD25F2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887532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rds.tf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rds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RDS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서브넷 및 파라미터 그룹 설정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DB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가 위치할 프라이빗 서브넷들을 그룹화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13-21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버전 정의 및 접속 세션 최대치 설정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23-26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DB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서버 시간을 한국 표준시로 고정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73340" y="3703320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28-66</a:t>
              </a:r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이모지 및 다국어 지원을 위한 데이터셋 단일화</a:t>
              </a:r>
            </a:p>
          </p:txBody>
        </p:sp>
      </p:grp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1520" y="2532888"/>
            <a:ext cx="3460403" cy="3960494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5854" y="2532888"/>
            <a:ext cx="2449347" cy="396049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D26D6E-DB61-F8B0-09F7-DF543DE635DF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7A524B-C709-503E-650B-30DF5CC725EC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94277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rds.tf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rds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sp>
        <p:nvSpPr>
          <p:cNvPr id="14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RDS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구성 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68-72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복제 및 복구를 위한 바이너리 로그 형식 지정</a:t>
              </a:r>
              <a:endParaRPr lang="en-US" sz="1200">
                <a:latin typeface="Pretendard"/>
                <a:ea typeface="Pretendard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75-80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엔진 버전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,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스토리지 용량 및 인스턴스 규격 지정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81-83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DB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명칭과 관리자 계정 및 비밀번호 설정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73340" y="3703320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84-85</a:t>
              </a:r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사전 정의한 파라미터 그룹 연결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종료 시 임시 백업 생략 설정</a:t>
              </a: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673340" y="4732020"/>
            <a:ext cx="4030979" cy="914400"/>
            <a:chOff x="6492240" y="5532120"/>
            <a:chExt cx="5212080" cy="914400"/>
          </a:xfrm>
        </p:grpSpPr>
        <p:sp>
          <p:nvSpPr>
            <p:cNvPr id="48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0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1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87-88</a:t>
              </a:r>
            </a:p>
          </p:txBody>
        </p:sp>
        <p:sp>
          <p:nvSpPr>
            <p:cNvPr id="52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전용 서브넷 그룹 배치 및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RDS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전용 보안 그룹을 통한 접근 제어</a:t>
              </a: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673340" y="5760720"/>
            <a:ext cx="4030979" cy="914400"/>
            <a:chOff x="6492240" y="5532120"/>
            <a:chExt cx="5212080" cy="914400"/>
          </a:xfrm>
        </p:grpSpPr>
        <p:sp>
          <p:nvSpPr>
            <p:cNvPr id="54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55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6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7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</a:t>
              </a: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90-93</a:t>
              </a:r>
            </a:p>
          </p:txBody>
        </p:sp>
        <p:sp>
          <p:nvSpPr>
            <p:cNvPr id="58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식별용 태그 부여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0359" y="2532888"/>
            <a:ext cx="5795500" cy="3728363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6B22A0F-FA2E-F70E-671E-FB8EA324C09B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C09FB7-6813-BA72-7B42-B2D12FB825EE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08385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s3.tf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s3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3475" y="3767328"/>
            <a:ext cx="6369270" cy="731520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0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1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2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3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1–3</a:t>
              </a:r>
              <a:endParaRPr lang="en-US" sz="1100"/>
            </a:p>
          </p:txBody>
        </p:sp>
        <p:sp>
          <p:nvSpPr>
            <p:cNvPr id="35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실제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AWS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클라우드에 전 세계 유일한 이름으로 등록될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S3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버킷 명칭 지정</a:t>
              </a:r>
              <a:endParaRPr lang="en-US" altLang="ko-KR" sz="1200">
                <a:latin typeface="Pretendard"/>
                <a:ea typeface="Pretendard"/>
              </a:endParaRPr>
            </a:p>
          </p:txBody>
        </p:sp>
      </p:grpSp>
      <p:sp>
        <p:nvSpPr>
          <p:cNvPr id="36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S3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버킷 생성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CC096B1-1722-4C7E-89C7-B765D500B677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817550D-2A1D-739A-92AB-F8E747606689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72498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acm.tf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acm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42846"/>
            <a:chOff x="6492240" y="2514600"/>
            <a:chExt cx="5212080" cy="942846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2–13</a:t>
              </a:r>
              <a:endParaRPr lang="en-US" sz="11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725926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lvl="0"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도메인 보안을 위한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ACM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인증서 생성 </a:t>
              </a:r>
            </a:p>
            <a:p>
              <a:pPr lvl="0"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무중단 갱신 설정</a:t>
              </a:r>
            </a:p>
            <a:p>
              <a:pPr marL="0" lvl="0" indent="0">
                <a:buNone/>
                <a:defRPr/>
              </a:pP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16–31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신청한 인증서의 소유권을 증명하기 위한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Route53 DNS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레코드 자동 등록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49325" y="2318753"/>
            <a:ext cx="5157569" cy="4159783"/>
          </a:xfrm>
          <a:prstGeom prst="rect">
            <a:avLst/>
          </a:prstGeom>
        </p:spPr>
      </p:pic>
      <p:sp>
        <p:nvSpPr>
          <p:cNvPr id="2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SSL/TLS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인증서 생성 및 검증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34D4F79-BF21-055C-0B89-03445A6B61C0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7E89777-1F70-D625-9443-229629065C06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03770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route53.tf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route53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1–3</a:t>
              </a:r>
              <a:endParaRPr lang="en-US" sz="11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latin typeface="Pretendard"/>
                  <a:ea typeface="Pretendard"/>
                  <a:cs typeface="Pretendard"/>
                </a:rPr>
                <a:t>name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 옵션을 사용하여 도메인의 네임서버 역할을 하고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DNS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레코드를 관리할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Route53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호스팅 영역 생성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1038" y="3850932"/>
            <a:ext cx="6494143" cy="1076376"/>
          </a:xfrm>
          <a:prstGeom prst="rect">
            <a:avLst/>
          </a:prstGeom>
        </p:spPr>
      </p:pic>
      <p:sp>
        <p:nvSpPr>
          <p:cNvPr id="2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Route53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구성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92E4632-A0BE-B47B-58B4-F9823D72394C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A7086A0A-9DA3-A79D-A156-CAE853D2A981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27017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alb.tf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alb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7673340" y="657225"/>
            <a:ext cx="4030979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75120" y="26517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2–12</a:t>
              </a:r>
              <a:endParaRPr lang="en-US" sz="110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262432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외부 트래픽을 받아 분산해 주는 퍼블릭 어플리케이션 로드밸런서 생성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673340" y="169164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15–27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트래픽이 최종 도달할 대상 인스턴스 그룹 정의 및 상태 검사 조건 설정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269748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30–38</a:t>
              </a:r>
              <a:endParaRPr lang="en-US" sz="11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특정 포트로 들어오는 요청을 감지해 지정된 타겟 그룹으로 전달하도록 연동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0080" y="2999232"/>
            <a:ext cx="3487913" cy="3169158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28577" y="3830890"/>
            <a:ext cx="3127228" cy="1116460"/>
          </a:xfrm>
          <a:prstGeom prst="rect">
            <a:avLst/>
          </a:prstGeom>
        </p:spPr>
      </p:pic>
      <p:sp>
        <p:nvSpPr>
          <p:cNvPr id="2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 ALB &amp;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타겟 그룹 </a:t>
            </a: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&amp; </a:t>
            </a: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리스너 설정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E147CF7-C2B5-284E-D89F-18600301BCAD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1676D1F-F012-1F24-2003-A71E55163680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25238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auto_scaling.tf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auto_scaling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673340" y="707576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altLang="ko-KR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3-6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  <a:cs typeface="Pretendard"/>
                </a:rPr>
                <a:t>생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성될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EC2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의 이름 접두사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, OS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이미지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(AMI),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서버 사양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,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접속용 키 페어 지정</a:t>
              </a: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1713416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9</a:t>
              </a:r>
              <a:endParaRPr lang="en-US" sz="11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인스턴스에 적용할 보안 그룹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지정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73340" y="2719256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13</a:t>
              </a:r>
              <a:endParaRPr lang="en-US" sz="1100"/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서버 부팅 시 자동 실행될 초기화 스크립트 선언 및 인코딩 시작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673340" y="3747956"/>
            <a:ext cx="4030979" cy="914400"/>
            <a:chOff x="6492240" y="5532120"/>
            <a:chExt cx="5212080" cy="914400"/>
          </a:xfrm>
        </p:grpSpPr>
        <p:sp>
          <p:nvSpPr>
            <p:cNvPr id="48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0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1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14-18</a:t>
              </a:r>
              <a:endParaRPr lang="en-US" sz="1100"/>
            </a:p>
          </p:txBody>
        </p:sp>
        <p:sp>
          <p:nvSpPr>
            <p:cNvPr id="52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쉘 스크립트를 통해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OS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패키지를 업데이트하고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Nginx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웹 서버를 설치한 뒤 활성화하도록 설정</a:t>
              </a:r>
              <a:r>
                <a:rPr lang="en-US" sz="1200">
                  <a:solidFill>
                    <a:srgbClr val="1B1B1F"/>
                  </a:solidFill>
                  <a:latin typeface="Pretendard"/>
                  <a:ea typeface="Pretendard"/>
                  <a:cs typeface="Pretendard"/>
                </a:rPr>
                <a:t> 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673340" y="4776656"/>
            <a:ext cx="4030979" cy="914400"/>
            <a:chOff x="6492240" y="5532120"/>
            <a:chExt cx="5212080" cy="914400"/>
          </a:xfrm>
        </p:grpSpPr>
        <p:sp>
          <p:nvSpPr>
            <p:cNvPr id="54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55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6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7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19-36</a:t>
              </a:r>
              <a:endParaRPr lang="en-US" sz="1100"/>
            </a:p>
          </p:txBody>
        </p:sp>
        <p:sp>
          <p:nvSpPr>
            <p:cNvPr id="58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1200">
                  <a:latin typeface="Pretendard"/>
                  <a:ea typeface="Pretendard"/>
                  <a:cs typeface="Pretendard"/>
                </a:rPr>
                <a:t>Nginx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웹 서버의 기본 메인 페이지에 표시될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HTML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코드와 스타일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(CSS)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소스 주입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46219" y="2420493"/>
            <a:ext cx="3963781" cy="4171465"/>
          </a:xfrm>
          <a:prstGeom prst="rect">
            <a:avLst/>
          </a:prstGeom>
        </p:spPr>
      </p:pic>
      <p:sp>
        <p:nvSpPr>
          <p:cNvPr id="10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오토스케일링 시작 및 템플릿 생성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1DFC46A-2E7A-DB23-0984-23117FBAA423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E1A1FD-4820-DE26-2E8D-5D55EBE17BF5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607169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200" b="1">
                <a:solidFill>
                  <a:srgbClr val="1B1B1F"/>
                </a:solidFill>
                <a:latin typeface="Pretendard Black"/>
                <a:ea typeface="Pretendard Black"/>
              </a:rPr>
              <a:t>프로젝트 코드 리뷰</a:t>
            </a:r>
            <a:endParaRPr lang="en-US" sz="3200">
              <a:latin typeface="Pretendard Black"/>
              <a:ea typeface="Pretendard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5A5A6E"/>
                </a:solidFill>
                <a:latin typeface="Pretendard SemiBold"/>
                <a:ea typeface="Pretendard SemiBold"/>
              </a:rPr>
              <a:t>auto_scaling.tf</a:t>
            </a:r>
            <a:r>
              <a:rPr lang="ko-KR" altLang="en-US" sz="1300">
                <a:solidFill>
                  <a:srgbClr val="5A5A6E"/>
                </a:solidFill>
                <a:latin typeface="Pretendard SemiBold"/>
                <a:ea typeface="Pretendard SemiBold"/>
                <a:cs typeface="Calibri"/>
              </a:rPr>
              <a:t> 구조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94182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7200" y="2103120"/>
            <a:ext cx="82296" cy="4572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61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📄  </a:t>
            </a:r>
            <a:r>
              <a:rPr lang="en-US" altLang="ko-KR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auto_scaling</a:t>
            </a:r>
            <a:r>
              <a:rPr lang="en-US" sz="11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.tf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673340" y="767430"/>
            <a:ext cx="4030979" cy="914400"/>
            <a:chOff x="6492240" y="3520440"/>
            <a:chExt cx="5212080" cy="914400"/>
          </a:xfrm>
        </p:grpSpPr>
        <p:sp>
          <p:nvSpPr>
            <p:cNvPr id="20" name="Shape 18"/>
            <p:cNvSpPr/>
            <p:nvPr/>
          </p:nvSpPr>
          <p:spPr>
            <a:xfrm>
              <a:off x="6492240" y="352044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492240" y="352044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75120" y="365760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117–122</a:t>
              </a:r>
              <a:endParaRPr lang="en-US" sz="1000"/>
            </a:p>
          </p:txBody>
        </p:sp>
        <p:sp>
          <p:nvSpPr>
            <p:cNvPr id="24" name="Text 22"/>
            <p:cNvSpPr/>
            <p:nvPr/>
          </p:nvSpPr>
          <p:spPr>
            <a:xfrm>
              <a:off x="7635240" y="363016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템플릿을 통해 생성될 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EC2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인스턴스 에 자동으로 부여될 이름 태그 정의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673340" y="1773270"/>
            <a:ext cx="4030979" cy="914400"/>
            <a:chOff x="6492240" y="4526280"/>
            <a:chExt cx="5212080" cy="914400"/>
          </a:xfrm>
        </p:grpSpPr>
        <p:sp>
          <p:nvSpPr>
            <p:cNvPr id="25" name="Shape 23"/>
            <p:cNvSpPr/>
            <p:nvPr/>
          </p:nvSpPr>
          <p:spPr>
            <a:xfrm>
              <a:off x="6492240" y="452628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492240" y="452628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675120" y="466344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124–126</a:t>
              </a:r>
              <a:endParaRPr lang="en-US" sz="100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463600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템플릿 변경 시 기존 자원을 삭제하기 전 새 자원을 먼저 생성하도록 설정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692344" y="3384796"/>
            <a:ext cx="4030979" cy="914400"/>
            <a:chOff x="6492240" y="5532120"/>
            <a:chExt cx="5212080" cy="914400"/>
          </a:xfrm>
        </p:grpSpPr>
        <p:sp>
          <p:nvSpPr>
            <p:cNvPr id="30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130-135</a:t>
              </a:r>
              <a:endParaRPr lang="en-US" sz="1000"/>
            </a:p>
          </p:txBody>
        </p:sp>
        <p:sp>
          <p:nvSpPr>
            <p:cNvPr id="34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지정된 서브넷 구역에 자동 배치될 인스턴스의 최소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·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최대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·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평상시 수량 범위 지정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692344" y="4413496"/>
            <a:ext cx="4030979" cy="914400"/>
            <a:chOff x="6492240" y="5532120"/>
            <a:chExt cx="5212080" cy="914400"/>
          </a:xfrm>
        </p:grpSpPr>
        <p:sp>
          <p:nvSpPr>
            <p:cNvPr id="48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0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1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136-138</a:t>
              </a:r>
              <a:endParaRPr lang="en-US" sz="1000"/>
            </a:p>
          </p:txBody>
        </p:sp>
        <p:sp>
          <p:nvSpPr>
            <p:cNvPr id="52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로드밸런서</a:t>
              </a:r>
              <a:r>
                <a:rPr lang="en-US" altLang="ko-KR" sz="1200"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200">
                  <a:latin typeface="Pretendard"/>
                  <a:ea typeface="Pretendard"/>
                  <a:cs typeface="Pretendard"/>
                </a:rPr>
                <a:t>기반 상태 검사 및 타겟 그룹 자동 등록 연동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692344" y="5442196"/>
            <a:ext cx="4030979" cy="914400"/>
            <a:chOff x="6492240" y="5532120"/>
            <a:chExt cx="5212080" cy="914400"/>
          </a:xfrm>
        </p:grpSpPr>
        <p:sp>
          <p:nvSpPr>
            <p:cNvPr id="54" name="Shape 28"/>
            <p:cNvSpPr/>
            <p:nvPr/>
          </p:nvSpPr>
          <p:spPr>
            <a:xfrm>
              <a:off x="6492240" y="553212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55" name="Shape 29"/>
            <p:cNvSpPr/>
            <p:nvPr/>
          </p:nvSpPr>
          <p:spPr>
            <a:xfrm>
              <a:off x="6492240" y="553212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6" name="Shape 30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57" name="Text 31"/>
            <p:cNvSpPr/>
            <p:nvPr/>
          </p:nvSpPr>
          <p:spPr>
            <a:xfrm>
              <a:off x="6675120" y="566928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 141-148</a:t>
              </a:r>
              <a:endParaRPr lang="en-US" sz="1000"/>
            </a:p>
          </p:txBody>
        </p:sp>
        <p:sp>
          <p:nvSpPr>
            <p:cNvPr id="58" name="Text 32"/>
            <p:cNvSpPr/>
            <p:nvPr/>
          </p:nvSpPr>
          <p:spPr>
            <a:xfrm>
              <a:off x="7635240" y="5641848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ko-KR" altLang="en-US" sz="1200">
                  <a:latin typeface="Pretendard"/>
                  <a:ea typeface="Pretendard"/>
                  <a:cs typeface="Pretendard"/>
                </a:rPr>
                <a:t>기반이 될 시작 템플릿의 최신 버전을 연결하고 교체 시 무중단 설정 적용</a:t>
              </a:r>
              <a:endParaRPr lang="en-US" sz="1200">
                <a:latin typeface="Pretendard"/>
                <a:ea typeface="Pretendard"/>
                <a:cs typeface="Pretendard"/>
              </a:endParaRPr>
            </a:p>
          </p:txBody>
        </p:sp>
      </p:grp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36520" y="2420493"/>
            <a:ext cx="2489662" cy="1645466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9716" y="4169283"/>
            <a:ext cx="5423270" cy="2454105"/>
          </a:xfrm>
          <a:prstGeom prst="rect">
            <a:avLst/>
          </a:prstGeom>
        </p:spPr>
      </p:pic>
      <p:sp>
        <p:nvSpPr>
          <p:cNvPr id="3" name="Text 12"/>
          <p:cNvSpPr/>
          <p:nvPr/>
        </p:nvSpPr>
        <p:spPr>
          <a:xfrm>
            <a:off x="7673340" y="245745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오토스케일링 시작 템플릿 태그 및 수명주기 설정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10" name="Text 12"/>
          <p:cNvSpPr/>
          <p:nvPr/>
        </p:nvSpPr>
        <p:spPr>
          <a:xfrm>
            <a:off x="7692344" y="2886009"/>
            <a:ext cx="40309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오토스케일링 그룹 생성</a:t>
            </a:r>
            <a:endParaRPr lang="en-US" sz="1100">
              <a:latin typeface="Pretendard Black"/>
              <a:ea typeface="Pretendard Black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4134F1C-3019-27C9-3CB3-CC9C57686B7E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D679185-E799-E865-05FE-EDEAE0A06277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66876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46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CHAPTER 0</a:t>
            </a:r>
            <a:r>
              <a:rPr lang="en-US" altLang="ko-KR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1000" kern="0" spc="200">
                <a:solidFill>
                  <a:srgbClr val="656A76"/>
                </a:solidFill>
                <a:latin typeface="Pretendard SemiBold"/>
                <a:ea typeface="Pretendard SemiBold"/>
                <a:cs typeface="Pretendard SemiBold"/>
              </a:rPr>
              <a:t>  /  </a:t>
            </a:r>
            <a:r>
              <a:rPr lang="en-US" altLang="ko-KR" sz="10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CODE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3200" kern="0" spc="-50">
                <a:latin typeface="Pretendard Black"/>
                <a:ea typeface="Pretendard Black"/>
                <a:cs typeface="Pretendard SemiBold"/>
              </a:rPr>
              <a:t>Chapter 0</a:t>
            </a:r>
            <a:r>
              <a:rPr lang="en-US" altLang="ko-KR" sz="3200" kern="0" spc="-50">
                <a:latin typeface="Pretendard Black"/>
                <a:ea typeface="Pretendard Black"/>
                <a:cs typeface="Pretendard SemiBold"/>
              </a:rPr>
              <a:t>4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altLang="ko-KR" sz="1600" kern="0" spc="2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Build Infrastructure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548640" cy="54864"/>
          </a:xfrm>
          <a:prstGeom prst="rect">
            <a:avLst/>
          </a:prstGeom>
          <a:solidFill>
            <a:srgbClr val="5C4E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0</a:t>
            </a:r>
            <a:r>
              <a:rPr lang="en-US" altLang="ko-KR" sz="18000" kern="0" spc="-600">
                <a:solidFill>
                  <a:srgbClr val="5C4EE5"/>
                </a:solidFill>
                <a:latin typeface="Pretendard SemiBold"/>
                <a:ea typeface="Pretendard SemiBold"/>
                <a:cs typeface="Pretendard Bold"/>
              </a:rPr>
              <a:t>4</a:t>
            </a:r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ko-KR" altLang="en-US" sz="4200" b="1">
                <a:solidFill>
                  <a:srgbClr val="1B1B1F"/>
                </a:solidFill>
                <a:latin typeface="Pretendard Black"/>
                <a:ea typeface="Pretendard Black"/>
              </a:rPr>
              <a:t>인프라 구축</a:t>
            </a:r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ko-KR" altLang="en-US" sz="1600" dirty="0">
                <a:solidFill>
                  <a:srgbClr val="5A5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실습 진행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 kern="0" spc="20" dirty="0">
                <a:solidFill>
                  <a:srgbClr val="656A76"/>
                </a:solidFill>
                <a:latin typeface="Pretendard SemiBold"/>
                <a:ea typeface="Pretendard SemiBold"/>
                <a:cs typeface="Pretendard Regular"/>
              </a:rPr>
              <a:t>Terraform Project</a:t>
            </a:r>
            <a:endParaRPr lang="en-US" altLang="ko-KR" sz="1000" dirty="0">
              <a:solidFill>
                <a:srgbClr val="5A5A6E"/>
              </a:solidFill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44987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92616" y="409575"/>
            <a:ext cx="2211703" cy="914400"/>
          </a:xfrm>
          <a:prstGeom prst="rect">
            <a:avLst/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2616" y="409575"/>
            <a:ext cx="23281" cy="9144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78086" y="1664208"/>
            <a:ext cx="8745110" cy="4763678"/>
          </a:xfrm>
          <a:prstGeom prst="rect">
            <a:avLst/>
          </a:prstGeom>
        </p:spPr>
      </p:pic>
      <p:sp>
        <p:nvSpPr>
          <p:cNvPr id="62" name="Text 17"/>
          <p:cNvSpPr/>
          <p:nvPr/>
        </p:nvSpPr>
        <p:spPr>
          <a:xfrm>
            <a:off x="9570284" y="514349"/>
            <a:ext cx="2075834" cy="352426"/>
          </a:xfrm>
          <a:prstGeom prst="rect">
            <a:avLst/>
          </a:prstGeom>
          <a:noFill/>
          <a:ln/>
        </p:spPr>
        <p:txBody>
          <a:bodyPr wrap="square" lIns="0" tIns="0" rIns="0" bIns="0" anchor="t" anchorCtr="0">
            <a:spAutoFit/>
          </a:bodyPr>
          <a:lstStyle/>
          <a:p>
            <a:pPr marL="0" lvl="0" indent="0">
              <a:buNone/>
              <a:defRPr/>
            </a:pP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1.</a:t>
            </a:r>
            <a:r>
              <a:rPr lang="ko-KR" altLang="en-US" sz="1200">
                <a:solidFill>
                  <a:srgbClr val="1B1B1F"/>
                </a:solidFill>
                <a:latin typeface="Pretendard"/>
                <a:ea typeface="Pretendard"/>
              </a:rPr>
              <a:t> </a:t>
            </a: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app.terraform.io</a:t>
            </a:r>
            <a:r>
              <a:rPr lang="ko-KR" altLang="en-US" sz="1200">
                <a:solidFill>
                  <a:srgbClr val="1B1B1F"/>
                </a:solidFill>
                <a:latin typeface="Pretendard"/>
                <a:ea typeface="Pretendard"/>
              </a:rPr>
              <a:t>에 로그인</a:t>
            </a:r>
          </a:p>
          <a:p>
            <a:pPr marL="0" lvl="0" indent="0">
              <a:buNone/>
              <a:defRPr/>
            </a:pP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2. Create</a:t>
            </a:r>
            <a:r>
              <a:rPr lang="ko-KR" altLang="en-US" sz="1200">
                <a:solidFill>
                  <a:srgbClr val="1B1B1F"/>
                </a:solidFill>
                <a:latin typeface="Pretendard"/>
                <a:ea typeface="Pretendard"/>
              </a:rPr>
              <a:t> </a:t>
            </a:r>
            <a:r>
              <a:rPr lang="en-US" altLang="ko-KR" sz="1200">
                <a:solidFill>
                  <a:srgbClr val="1B1B1F"/>
                </a:solidFill>
                <a:latin typeface="Pretendard"/>
                <a:ea typeface="Pretendard"/>
              </a:rPr>
              <a:t>Organization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BCBD3FE-D6BD-A4E7-A436-9B987F8B4A2A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45901D-0DAE-F998-310C-40850B48FCD8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08309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19374"/>
              <a:ext cx="4891891" cy="723901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>
              <a:spAutoFit/>
            </a:bodyPr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Create Organization </a:t>
              </a:r>
            </a:p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Type: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 Personal</a:t>
              </a:r>
            </a:p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Name: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 history-hcp</a:t>
              </a:r>
            </a:p>
            <a:p>
              <a:pPr marL="0" lvl="0" indent="0">
                <a:buNone/>
                <a:defRPr/>
              </a:pP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78966" y="1866707"/>
            <a:ext cx="4383707" cy="2991235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8966" y="5172456"/>
            <a:ext cx="8116432" cy="116221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B66A12F-813B-DD9A-3584-87F39494013E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EB1553-77B5-4908-F8F5-55D2FDA78C91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97589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조직 생성 후 화면</a:t>
              </a: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Workspace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를 생성한다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workflow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는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VCW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선택</a:t>
              </a:r>
            </a:p>
            <a:p>
              <a:pPr marL="0" lvl="0" indent="0">
                <a:buNone/>
                <a:defRPr/>
              </a:pPr>
              <a:r>
                <a:rPr lang="en-US" altLang="ko-KR" sz="1000">
                  <a:solidFill>
                    <a:srgbClr val="FF0000"/>
                  </a:solidFill>
                  <a:latin typeface="Pretendard"/>
                  <a:ea typeface="Pretendard"/>
                </a:rPr>
                <a:t>VCW(Version Control Workflow)</a:t>
              </a:r>
            </a:p>
          </p:txBody>
        </p:sp>
      </p:grp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32994" y="1911858"/>
            <a:ext cx="8326011" cy="445832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7BC4C71-0A0A-1837-8132-E2A4E63F35AA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32B256-735D-359F-7FEE-A72C1094EC63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98704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Connect to VCS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Project: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 Default Project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연결</a:t>
              </a:r>
            </a:p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GitHub: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깃허브 계정 연동 진행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GitHub App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을 클릭해 넘어간다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</a:t>
              </a:r>
            </a:p>
          </p:txBody>
        </p:sp>
      </p:grp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09482" y="1911858"/>
            <a:ext cx="6973035" cy="434412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F2A82E37-FCF6-547B-6772-F479845D800E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52943C-2F4C-8CEA-8A39-0116B1A9849E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19170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다음으로 진행 전</a:t>
              </a: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Repository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생성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HCP-Terraform-HISTORY</a:t>
              </a:r>
            </a:p>
          </p:txBody>
        </p:sp>
      </p:grp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18890" y="2842086"/>
            <a:ext cx="6954220" cy="2495898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521B4E1-8E47-5C9F-C1DD-AC7EA410C5EE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A89A7B-1263-E05C-6237-D012C4B6358B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79553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다시 </a:t>
              </a: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workspace</a:t>
              </a: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 생성 진행</a:t>
              </a: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Add another organization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방금 생성한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repository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선택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3.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Install </a:t>
              </a:r>
            </a:p>
          </p:txBody>
        </p:sp>
      </p:grp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36859" y="1626991"/>
            <a:ext cx="3166759" cy="4962403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31520" y="2735495"/>
            <a:ext cx="7156748" cy="274539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EAAD783C-AA11-9128-7C8F-696B1659CDC8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BE6AB8-6F16-A398-7396-7BE91BC26475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55067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Repository</a:t>
              </a: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 확인</a:t>
              </a: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이전에 안보였던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repository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확인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repository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를 선택하고 넘어간다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</a:t>
              </a:r>
            </a:p>
            <a:p>
              <a:pPr marL="0" lvl="0" indent="0">
                <a:buNone/>
                <a:defRPr/>
              </a:pP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76232" y="2937349"/>
            <a:ext cx="5439534" cy="230537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05A3ED8-C3D6-7720-1A64-E0B0D078FEA8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235F78-249A-747C-A904-CFABD8D1647F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20038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Configure settings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Create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를 눌러 생성한다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</a:t>
              </a: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23753" y="1911858"/>
            <a:ext cx="7344492" cy="445453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D75BEEE-6939-DFC9-F9DC-6177B13412FB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ED985B-0E22-CD3F-7DBA-36A2F73840A6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04480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생성한 </a:t>
              </a: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Workspace</a:t>
              </a: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 확인</a:t>
              </a: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3059029"/>
            <a:ext cx="11049000" cy="206201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BEFCB3B-65CE-2A48-0D3C-844BDEBE5A15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EB13E4-BDE0-1311-D9B7-D41DDC4946E2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40502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Configure variables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 Workspace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에 들어간다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 Configure variables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클릭</a:t>
              </a:r>
            </a:p>
            <a:p>
              <a:pPr marL="0" lvl="0" indent="0">
                <a:buNone/>
                <a:defRPr/>
              </a:pP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18969" y="1984716"/>
            <a:ext cx="6354061" cy="421063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6C22AC27-B2AE-6551-BE26-8A92BFC21BB9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67143D-0115-719C-1431-D073D80DEC50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3582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Configure variables</a:t>
              </a:r>
            </a:p>
            <a:p>
              <a:pPr marL="0" lvl="0" indent="0">
                <a:buNone/>
                <a:defRPr/>
              </a:pP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Workspace variables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 블록에서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Add variable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을 눌러 변수 생성</a:t>
              </a:r>
            </a:p>
            <a:p>
              <a:pPr marL="0" lvl="0" indent="0">
                <a:buNone/>
                <a:defRPr/>
              </a:pP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23203" y="3346981"/>
            <a:ext cx="10345594" cy="148610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843074DA-8AB7-15CF-F842-92F776DDF344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7E9FEC-7EF3-6198-2357-41F63C371D27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92402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Configure variables</a:t>
              </a: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다음과 같이 </a:t>
              </a:r>
              <a:r>
                <a:rPr lang="ko-KR" altLang="en-US" sz="1200" b="1">
                  <a:solidFill>
                    <a:srgbClr val="1B1B1F"/>
                  </a:solidFill>
                  <a:latin typeface="Pretendard"/>
                  <a:ea typeface="Pretendard"/>
                </a:rPr>
                <a:t>변수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를 생성한다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</a:t>
              </a: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AWS Access Key ID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 AWS Secret Access Key</a:t>
              </a: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05840" y="1664208"/>
            <a:ext cx="4680585" cy="4887902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31844" y="1671256"/>
            <a:ext cx="4680585" cy="485660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A8C494C-A6B1-3B26-DEA0-1B8F9D9BC442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5C3B24-500B-F4FA-8C4C-83E6C2C2AE02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226909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Configure variables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생성된 변수 확인</a:t>
              </a: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85388" y="2275269"/>
            <a:ext cx="8221222" cy="362953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F514421-2C49-29A5-753A-B576F698EAEA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FB80EC-5346-751D-1D56-62F5157EBF87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035257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Settings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우측 탭에서 </a:t>
              </a: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Settings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에 들어간다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Settings - </a:t>
              </a: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General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에서 진행</a:t>
              </a:r>
            </a:p>
            <a:p>
              <a:pPr marL="0" lvl="0" indent="0">
                <a:buNone/>
                <a:defRPr/>
              </a:pP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18157" y="2285772"/>
            <a:ext cx="2600688" cy="3296110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987191" y="1861851"/>
            <a:ext cx="2505424" cy="4143953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A5BFA12F-D384-E8E9-EB8B-2F96E41F42D9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B1D2ED-7E40-4D3B-176A-1E6284894F0F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787247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Settings</a:t>
              </a: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다음과 같이 설정을 변경한다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.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 Auto-apply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 Remote state sharing</a:t>
              </a:r>
            </a:p>
            <a:p>
              <a:pPr marL="0" lvl="0" indent="0">
                <a:buNone/>
                <a:defRPr/>
              </a:pP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09363" y="1892808"/>
            <a:ext cx="6973273" cy="2057687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595073" y="4090035"/>
            <a:ext cx="7001852" cy="2314898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709F313-81C4-045F-9157-96FAD16DF43B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751DDE-7254-F453-3357-D4ED7C8CE7F4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739126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Run</a:t>
              </a:r>
              <a:endParaRPr lang="ko-KR" altLang="en-US" sz="1200" b="1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진행 전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GitHub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Repository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tf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파일을 업로드</a:t>
              </a:r>
            </a:p>
            <a:p>
              <a:pPr marL="0" lvl="0" indent="0">
                <a:buNone/>
                <a:defRPr/>
              </a:pPr>
              <a:r>
                <a:rPr lang="ko-KR" altLang="en-US" sz="1000">
                  <a:solidFill>
                    <a:srgbClr val="FF0000"/>
                  </a:solidFill>
                  <a:latin typeface="Pretendard"/>
                  <a:ea typeface="Pretendard"/>
                </a:rPr>
                <a:t>테스트 용도로 </a:t>
              </a:r>
              <a:r>
                <a:rPr lang="en-US" altLang="ko-KR" sz="1000">
                  <a:solidFill>
                    <a:srgbClr val="FF0000"/>
                  </a:solidFill>
                  <a:latin typeface="Pretendard"/>
                  <a:ea typeface="Pretendard"/>
                </a:rPr>
                <a:t>2</a:t>
              </a:r>
              <a:r>
                <a:rPr lang="ko-KR" altLang="en-US" sz="1000">
                  <a:solidFill>
                    <a:srgbClr val="FF0000"/>
                  </a:solidFill>
                  <a:latin typeface="Pretendard"/>
                  <a:ea typeface="Pretendard"/>
                </a:rPr>
                <a:t>개만 업로드 하였음</a:t>
              </a:r>
              <a:r>
                <a:rPr lang="en-US" altLang="ko-KR" sz="1000">
                  <a:solidFill>
                    <a:srgbClr val="FF0000"/>
                  </a:solidFill>
                  <a:latin typeface="Pretendard"/>
                  <a:ea typeface="Pretendard"/>
                </a:rPr>
                <a:t>.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71364" y="3180270"/>
            <a:ext cx="6249272" cy="1819528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E998E0B0-05FD-18F5-195E-B9A5151C356C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170853-0DAD-AD22-AF4B-057CECD97BC1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6405872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Run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Workspace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에서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New run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클릭</a:t>
              </a: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99678" y="1851347"/>
            <a:ext cx="8192642" cy="447737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3CF8207-3FCE-C8DB-F7B8-0DF839CF431A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835938-DE36-011F-776D-30C1859C79B1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2396146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Run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 Run name: apply test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 Start</a:t>
              </a: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19075" y="1903742"/>
            <a:ext cx="5553850" cy="437258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B163DBC-6402-7D68-FC58-96ECA7F94F46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F91721-3709-4947-AB3C-D064A1C2D318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392769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Run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apply test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적용 확인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run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이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applied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되었는지 확인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AWS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Console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에서 확인</a:t>
              </a:r>
            </a:p>
            <a:p>
              <a:pPr marL="0" lvl="0" indent="0">
                <a:buNone/>
                <a:defRPr/>
              </a:pPr>
              <a:endParaRPr lang="ko-KR" altLang="en-US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04873" y="1664208"/>
            <a:ext cx="6182254" cy="2975028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566401" y="4840404"/>
            <a:ext cx="5059196" cy="159764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E7E98BEB-5D07-6FA8-F2CB-E872311AEFEA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6E7020-D3FC-4EEF-8306-3B8B5FAEB6CB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6762118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Run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1.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나머지 </a:t>
              </a: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tf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파일 업로드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2. Github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와 연동 확인</a:t>
              </a: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09204" y="3356507"/>
            <a:ext cx="8173590" cy="146705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FAD186A-EF41-42CF-2812-85D9BA043D33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A395A7-D3FD-AEC4-932C-1A7E500E222A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761575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Connect</a:t>
              </a:r>
            </a:p>
            <a:p>
              <a:pPr marL="0" lvl="0" indent="0">
                <a:buNone/>
                <a:defRPr/>
              </a:pP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Route53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에서 </a:t>
              </a: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NS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 확인</a:t>
              </a:r>
            </a:p>
            <a:p>
              <a:pPr marL="0" lvl="0" indent="0">
                <a:buNone/>
                <a:defRPr/>
              </a:pP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2.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 가비아에서 네임 서버 설정</a:t>
              </a:r>
            </a:p>
            <a:p>
              <a:pPr marL="0" lvl="0" indent="0">
                <a:buNone/>
                <a:defRPr/>
              </a:pPr>
              <a:endParaRPr lang="ko-KR" altLang="en-US" sz="1200" b="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endParaRPr lang="en-US" altLang="ko-KR" sz="1200" b="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56651" y="2380220"/>
            <a:ext cx="9478697" cy="876422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66044" y="3669674"/>
            <a:ext cx="10459911" cy="2457793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41C1E14-07A9-C577-12F5-F304955A0D79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90E0D7-A296-58EA-692C-E51D2A2B15B0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1925586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Connect</a:t>
              </a:r>
            </a:p>
            <a:p>
              <a:pPr marL="0" lvl="0" indent="0">
                <a:buNone/>
                <a:defRPr/>
              </a:pP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1.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Route53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에서 </a:t>
              </a: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A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레코드 생성</a:t>
              </a:r>
            </a:p>
            <a:p>
              <a:pPr marL="0" lvl="0" indent="0">
                <a:buNone/>
                <a:defRPr/>
              </a:pP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(@,</a:t>
              </a:r>
              <a:r>
                <a:rPr lang="ko-KR" altLang="en-US" sz="1200" b="0">
                  <a:solidFill>
                    <a:srgbClr val="1B1B1F"/>
                  </a:solidFill>
                  <a:latin typeface="Pretendard"/>
                  <a:ea typeface="Pretendard"/>
                </a:rPr>
                <a:t> </a:t>
              </a:r>
              <a:r>
                <a:rPr lang="en-US" altLang="ko-KR" sz="1200" b="0">
                  <a:solidFill>
                    <a:srgbClr val="1B1B1F"/>
                  </a:solidFill>
                  <a:latin typeface="Pretendard"/>
                  <a:ea typeface="Pretendard"/>
                </a:rPr>
                <a:t>www)</a:t>
              </a:r>
            </a:p>
            <a:p>
              <a:pPr marL="0" lvl="0" indent="0">
                <a:buNone/>
                <a:defRPr/>
              </a:pPr>
              <a:endParaRPr lang="ko-KR" altLang="en-US" sz="1200" b="0">
                <a:solidFill>
                  <a:srgbClr val="1B1B1F"/>
                </a:solidFill>
                <a:latin typeface="Pretendard"/>
                <a:ea typeface="Pretendard"/>
              </a:endParaRPr>
            </a:p>
            <a:p>
              <a:pPr marL="0" lvl="0" indent="0">
                <a:buNone/>
                <a:defRPr/>
              </a:pPr>
              <a:endParaRPr lang="en-US" altLang="ko-KR" sz="1200">
                <a:solidFill>
                  <a:srgbClr val="1B1B1F"/>
                </a:solidFill>
                <a:latin typeface="Pretendard"/>
                <a:ea typeface="Pretendard"/>
              </a:endParaRPr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7466" y="2466495"/>
            <a:ext cx="5258533" cy="3648584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67316" y="2466495"/>
            <a:ext cx="5172797" cy="3610479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5DA33FC-2508-6757-C495-D021988A887E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3B9DEB-6113-3111-DF07-5010A1E6B143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124622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22960"/>
            <a:ext cx="41529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3200" b="1">
                <a:solidFill>
                  <a:srgbClr val="1B1B1F"/>
                </a:solidFill>
                <a:latin typeface="Pretendard Black"/>
                <a:ea typeface="Pretendard Black"/>
              </a:rPr>
              <a:t>HCP Terraform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411605"/>
            <a:ext cx="548640" cy="54864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1625"/>
            <a:ext cx="11247120" cy="50368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1625"/>
            <a:ext cx="83801" cy="503682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2616" y="217551"/>
            <a:ext cx="716280" cy="15659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100" b="1" kern="0" spc="300">
                <a:solidFill>
                  <a:srgbClr val="5C4EE5"/>
                </a:solidFill>
                <a:latin typeface="Pretendard Black"/>
                <a:ea typeface="Pretendard Black"/>
              </a:rPr>
              <a:t>NOTE</a:t>
            </a:r>
            <a:endParaRPr lang="en-US" sz="1100" b="1" kern="0" spc="300">
              <a:solidFill>
                <a:srgbClr val="5C4EE5"/>
              </a:solidFill>
              <a:latin typeface="Pretendard Black"/>
              <a:ea typeface="Pretendard Black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9492616" y="409575"/>
            <a:ext cx="2211703" cy="914400"/>
            <a:chOff x="6492240" y="2514600"/>
            <a:chExt cx="5212080" cy="914400"/>
          </a:xfrm>
        </p:grpSpPr>
        <p:sp>
          <p:nvSpPr>
            <p:cNvPr id="15" name="Shape 13"/>
            <p:cNvSpPr/>
            <p:nvPr/>
          </p:nvSpPr>
          <p:spPr>
            <a:xfrm>
              <a:off x="6492240" y="2514600"/>
              <a:ext cx="5212080" cy="914400"/>
            </a:xfrm>
            <a:prstGeom prst="rect">
              <a:avLst/>
            </a:prstGeom>
            <a:solidFill>
              <a:srgbClr val="F4F2FF"/>
            </a:solidFill>
            <a:ln w="12700">
              <a:solidFill>
                <a:srgbClr val="F4F2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2240" y="2514600"/>
              <a:ext cx="54864" cy="914400"/>
            </a:xfrm>
            <a:prstGeom prst="rect">
              <a:avLst/>
            </a:prstGeom>
            <a:solidFill>
              <a:srgbClr val="5C4EE5"/>
            </a:solidFill>
            <a:ln w="12700">
              <a:solidFill>
                <a:srgbClr val="5C4E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675270" y="2624328"/>
              <a:ext cx="489189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 anchorCtr="0"/>
            <a:lstStyle/>
            <a:p>
              <a:pPr marL="0" lvl="0" indent="0">
                <a:buNone/>
                <a:defRPr/>
              </a:pPr>
              <a:r>
                <a:rPr lang="en-US" altLang="ko-KR" sz="1200" b="1">
                  <a:solidFill>
                    <a:srgbClr val="1B1B1F"/>
                  </a:solidFill>
                  <a:latin typeface="Pretendard"/>
                  <a:ea typeface="Pretendard"/>
                </a:rPr>
                <a:t>Connect</a:t>
              </a:r>
            </a:p>
            <a:p>
              <a:pPr marL="0" lvl="0" indent="0">
                <a:buNone/>
                <a:defRPr/>
              </a:pPr>
              <a:r>
                <a:rPr lang="en-US" altLang="ko-KR" sz="1200">
                  <a:solidFill>
                    <a:srgbClr val="1B1B1F"/>
                  </a:solidFill>
                  <a:latin typeface="Pretendard"/>
                  <a:ea typeface="Pretendard"/>
                </a:rPr>
                <a:t>history-cloud.store </a:t>
              </a:r>
              <a:r>
                <a:rPr lang="ko-KR" altLang="en-US" sz="1200">
                  <a:solidFill>
                    <a:srgbClr val="1B1B1F"/>
                  </a:solidFill>
                  <a:latin typeface="Pretendard"/>
                  <a:ea typeface="Pretendard"/>
                </a:rPr>
                <a:t>접속 확인</a:t>
              </a:r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rcRect t="34820"/>
          <a:stretch>
            <a:fillRect/>
          </a:stretch>
        </p:blipFill>
        <p:spPr>
          <a:xfrm>
            <a:off x="3254477" y="2260816"/>
            <a:ext cx="5683045" cy="3971586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3"/>
          <a:srcRect b="94540"/>
          <a:stretch>
            <a:fillRect/>
          </a:stretch>
        </p:blipFill>
        <p:spPr>
          <a:xfrm>
            <a:off x="3254477" y="1928410"/>
            <a:ext cx="5683045" cy="33240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FAE7A157-D4B5-7C7E-AAAD-D72317271F60}"/>
              </a:ext>
            </a:extLst>
          </p:cNvPr>
          <p:cNvSpPr/>
          <p:nvPr/>
        </p:nvSpPr>
        <p:spPr>
          <a:xfrm>
            <a:off x="457200" y="382905"/>
            <a:ext cx="164592" cy="164592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3B1155-1443-C2DF-F2A8-2ED2C90C4E04}"/>
              </a:ext>
            </a:extLst>
          </p:cNvPr>
          <p:cNvSpPr/>
          <p:nvPr/>
        </p:nvSpPr>
        <p:spPr>
          <a:xfrm>
            <a:off x="685800" y="3300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400" dirty="0">
                <a:solidFill>
                  <a:srgbClr val="5A5A6E"/>
                </a:solidFill>
                <a:latin typeface="Pretendard SemiBold"/>
                <a:ea typeface="Pretendard SemiBold"/>
              </a:rPr>
              <a:t>TERRAFORM NOTES</a:t>
            </a:r>
            <a:endParaRPr lang="en-US" sz="1000" dirty="0">
              <a:latin typeface="Pretendard SemiBold"/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427574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96325" y="0"/>
            <a:ext cx="3474720" cy="6858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"/>
          <p:cNvSpPr/>
          <p:nvPr/>
        </p:nvSpPr>
        <p:spPr>
          <a:xfrm>
            <a:off x="3693523" y="0"/>
            <a:ext cx="137160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Shape 0"/>
          <p:cNvSpPr/>
          <p:nvPr/>
        </p:nvSpPr>
        <p:spPr>
          <a:xfrm>
            <a:off x="11430" y="0"/>
            <a:ext cx="3474720" cy="6858000"/>
          </a:xfrm>
          <a:prstGeom prst="rect">
            <a:avLst/>
          </a:prstGeom>
          <a:solidFill>
            <a:srgbClr val="5C4EE5"/>
          </a:solidFill>
          <a:ln w="12700">
            <a:solidFill>
              <a:srgbClr val="5C4EE5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rcRect l="21610" r="18310" b="31030"/>
          <a:stretch>
            <a:fillRect/>
          </a:stretch>
        </p:blipFill>
        <p:spPr>
          <a:xfrm>
            <a:off x="4178902" y="0"/>
            <a:ext cx="4057120" cy="473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9542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2724</ep:Words>
  <ep:PresentationFormat>와이드스크린</ep:PresentationFormat>
  <ep:Paragraphs>684</ep:Paragraphs>
  <ep:Slides>58</ep:Slides>
  <ep:Notes>58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ep:HeadingPairs>
  <ep:TitlesOfParts>
    <vt:vector size="5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2026-05-20T04:33:58.000</dcterms:created>
  <dc:creator>동진</dc:creator>
  <cp:lastModifiedBy>공-807-027</cp:lastModifiedBy>
  <dcterms:modified xsi:type="dcterms:W3CDTF">2026-05-27T11:46:12.723</dcterms:modified>
  <cp:revision>323</cp:revision>
  <dc:subject>PptxGenJS Presentation</dc:subject>
  <dc:title>Terraform Project Notes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